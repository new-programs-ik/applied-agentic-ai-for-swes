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84" r:id="rId6"/>
    <p:sldMasterId id="2147483716" r:id="rId7"/>
    <p:sldMasterId id="2147483743" r:id="rId8"/>
    <p:sldMasterId id="2147483776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</p:sldIdLst>
  <p:sldSz cy="5143500" cx="9144000"/>
  <p:notesSz cx="6858000" cy="9144000"/>
  <p:embeddedFontLst>
    <p:embeddedFont>
      <p:font typeface="Roboto"/>
      <p:regular r:id="rId70"/>
      <p:bold r:id="rId71"/>
      <p:italic r:id="rId72"/>
      <p:boldItalic r:id="rId73"/>
    </p:embeddedFont>
    <p:embeddedFont>
      <p:font typeface="Inter"/>
      <p:regular r:id="rId74"/>
      <p:bold r:id="rId75"/>
      <p:italic r:id="rId76"/>
      <p:boldItalic r:id="rId77"/>
    </p:embeddedFont>
    <p:embeddedFont>
      <p:font typeface="Fira Sans Extra Condensed Medium"/>
      <p:regular r:id="rId78"/>
      <p:bold r:id="rId79"/>
      <p:italic r:id="rId80"/>
      <p:boldItalic r:id="rId81"/>
    </p:embeddedFont>
    <p:embeddedFont>
      <p:font typeface="Fira Sans Medium"/>
      <p:regular r:id="rId82"/>
      <p:bold r:id="rId83"/>
      <p:italic r:id="rId84"/>
      <p:boldItalic r:id="rId85"/>
    </p:embeddedFont>
    <p:embeddedFont>
      <p:font typeface="Fira Sans"/>
      <p:regular r:id="rId86"/>
      <p:bold r:id="rId87"/>
      <p:italic r:id="rId88"/>
      <p:boldItalic r:id="rId89"/>
    </p:embeddedFont>
    <p:embeddedFont>
      <p:font typeface="Space Grotesk Medium"/>
      <p:regular r:id="rId90"/>
      <p:bold r:id="rId91"/>
    </p:embeddedFont>
    <p:embeddedFont>
      <p:font typeface="Roboto Mono"/>
      <p:regular r:id="rId92"/>
      <p:bold r:id="rId93"/>
      <p:italic r:id="rId94"/>
      <p:boldItalic r:id="rId95"/>
    </p:embeddedFont>
    <p:embeddedFont>
      <p:font typeface="Space Grotesk"/>
      <p:regular r:id="rId96"/>
      <p:bold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">
          <p15:clr>
            <a:srgbClr val="A4A3A4"/>
          </p15:clr>
        </p15:guide>
        <p15:guide id="3" pos="4608">
          <p15:clr>
            <a:srgbClr val="9AA0A6"/>
          </p15:clr>
        </p15:guide>
        <p15:guide id="4" pos="1980">
          <p15:clr>
            <a:srgbClr val="747775"/>
          </p15:clr>
        </p15:guide>
        <p15:guide id="5" pos="2880">
          <p15:clr>
            <a:srgbClr val="747775"/>
          </p15:clr>
        </p15:guide>
        <p15:guide id="6" orient="horz" pos="1716">
          <p15:clr>
            <a:srgbClr val="747775"/>
          </p15:clr>
        </p15:guide>
      </p15:sldGuideLst>
    </p:ext>
    <p:ext uri="GoogleSlidesCustomDataVersion2">
      <go:slidesCustomData xmlns:go="http://customooxmlschemas.google.com/" r:id="rId98" roundtripDataSignature="AMtx7mhlFoUp4yU6dJJpT5oYLU06uBcv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A60329-19E3-475D-B289-D9FFB5489BAD}">
  <a:tblStyle styleId="{B0A60329-19E3-475D-B289-D9FFB5489BA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"/>
        <p:guide pos="4608"/>
        <p:guide pos="1980"/>
        <p:guide pos="2880"/>
        <p:guide pos="17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95" Type="http://schemas.openxmlformats.org/officeDocument/2006/relationships/font" Target="fonts/RobotoMono-boldItalic.fntdata"/><Relationship Id="rId94" Type="http://schemas.openxmlformats.org/officeDocument/2006/relationships/font" Target="fonts/RobotoMono-italic.fntdata"/><Relationship Id="rId97" Type="http://schemas.openxmlformats.org/officeDocument/2006/relationships/font" Target="fonts/SpaceGrotesk-bold.fntdata"/><Relationship Id="rId96" Type="http://schemas.openxmlformats.org/officeDocument/2006/relationships/font" Target="fonts/SpaceGrotesk-regular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98" Type="http://customschemas.google.com/relationships/presentationmetadata" Target="meta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91" Type="http://schemas.openxmlformats.org/officeDocument/2006/relationships/font" Target="fonts/SpaceGroteskMedium-bold.fntdata"/><Relationship Id="rId90" Type="http://schemas.openxmlformats.org/officeDocument/2006/relationships/font" Target="fonts/SpaceGroteskMedium-regular.fntdata"/><Relationship Id="rId93" Type="http://schemas.openxmlformats.org/officeDocument/2006/relationships/font" Target="fonts/RobotoMono-bold.fntdata"/><Relationship Id="rId92" Type="http://schemas.openxmlformats.org/officeDocument/2006/relationships/font" Target="fonts/RobotoMono-regular.fntdata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84" Type="http://schemas.openxmlformats.org/officeDocument/2006/relationships/font" Target="fonts/FiraSansMedium-italic.fntdata"/><Relationship Id="rId83" Type="http://schemas.openxmlformats.org/officeDocument/2006/relationships/font" Target="fonts/FiraSansMedium-bold.fntdata"/><Relationship Id="rId86" Type="http://schemas.openxmlformats.org/officeDocument/2006/relationships/font" Target="fonts/FiraSans-regular.fntdata"/><Relationship Id="rId85" Type="http://schemas.openxmlformats.org/officeDocument/2006/relationships/font" Target="fonts/FiraSansMedium-boldItalic.fntdata"/><Relationship Id="rId88" Type="http://schemas.openxmlformats.org/officeDocument/2006/relationships/font" Target="fonts/FiraSans-italic.fntdata"/><Relationship Id="rId87" Type="http://schemas.openxmlformats.org/officeDocument/2006/relationships/font" Target="fonts/FiraSans-bold.fntdata"/><Relationship Id="rId89" Type="http://schemas.openxmlformats.org/officeDocument/2006/relationships/font" Target="fonts/FiraSans-boldItalic.fntdata"/><Relationship Id="rId80" Type="http://schemas.openxmlformats.org/officeDocument/2006/relationships/font" Target="fonts/FiraSansExtraCondensedMedium-italic.fntdata"/><Relationship Id="rId82" Type="http://schemas.openxmlformats.org/officeDocument/2006/relationships/font" Target="fonts/FiraSansMedium-regular.fntdata"/><Relationship Id="rId81" Type="http://schemas.openxmlformats.org/officeDocument/2006/relationships/font" Target="fonts/FiraSansExtraCondensedMedium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Roboto-boldItalic.fntdata"/><Relationship Id="rId72" Type="http://schemas.openxmlformats.org/officeDocument/2006/relationships/font" Target="fonts/Roboto-italic.fntdata"/><Relationship Id="rId75" Type="http://schemas.openxmlformats.org/officeDocument/2006/relationships/font" Target="fonts/Inter-bold.fntdata"/><Relationship Id="rId74" Type="http://schemas.openxmlformats.org/officeDocument/2006/relationships/font" Target="fonts/Inter-regular.fntdata"/><Relationship Id="rId77" Type="http://schemas.openxmlformats.org/officeDocument/2006/relationships/font" Target="fonts/Inter-boldItalic.fntdata"/><Relationship Id="rId76" Type="http://schemas.openxmlformats.org/officeDocument/2006/relationships/font" Target="fonts/Inter-italic.fntdata"/><Relationship Id="rId79" Type="http://schemas.openxmlformats.org/officeDocument/2006/relationships/font" Target="fonts/FiraSansExtraCondensedMedium-bold.fntdata"/><Relationship Id="rId78" Type="http://schemas.openxmlformats.org/officeDocument/2006/relationships/font" Target="fonts/FiraSansExtraCondensedMedium-regular.fntdata"/><Relationship Id="rId71" Type="http://schemas.openxmlformats.org/officeDocument/2006/relationships/font" Target="fonts/Roboto-bold.fntdata"/><Relationship Id="rId70" Type="http://schemas.openxmlformats.org/officeDocument/2006/relationships/font" Target="fonts/Roboto-regular.fntdata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66" Type="http://schemas.openxmlformats.org/officeDocument/2006/relationships/slide" Target="slides/slide56.xml"/><Relationship Id="rId65" Type="http://schemas.openxmlformats.org/officeDocument/2006/relationships/slide" Target="slides/slide55.xml"/><Relationship Id="rId68" Type="http://schemas.openxmlformats.org/officeDocument/2006/relationships/slide" Target="slides/slide58.xml"/><Relationship Id="rId67" Type="http://schemas.openxmlformats.org/officeDocument/2006/relationships/slide" Target="slides/slide57.xml"/><Relationship Id="rId60" Type="http://schemas.openxmlformats.org/officeDocument/2006/relationships/slide" Target="slides/slide50.xml"/><Relationship Id="rId69" Type="http://schemas.openxmlformats.org/officeDocument/2006/relationships/slide" Target="slides/slide5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5" Type="http://schemas.openxmlformats.org/officeDocument/2006/relationships/slide" Target="slides/slide45.xml"/><Relationship Id="rId54" Type="http://schemas.openxmlformats.org/officeDocument/2006/relationships/slide" Target="slides/slide44.xml"/><Relationship Id="rId57" Type="http://schemas.openxmlformats.org/officeDocument/2006/relationships/slide" Target="slides/slide47.xml"/><Relationship Id="rId56" Type="http://schemas.openxmlformats.org/officeDocument/2006/relationships/slide" Target="slides/slide46.xml"/><Relationship Id="rId59" Type="http://schemas.openxmlformats.org/officeDocument/2006/relationships/slide" Target="slides/slide49.xml"/><Relationship Id="rId58" Type="http://schemas.openxmlformats.org/officeDocument/2006/relationships/slide" Target="slides/slide4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Welcome to Fundamentals of Angentic AI - I’ll be your instructor: Anshaj Khare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:notes"/>
          <p:cNvSpPr txBox="1"/>
          <p:nvPr>
            <p:ph idx="1" type="body"/>
          </p:nvPr>
        </p:nvSpPr>
        <p:spPr>
          <a:xfrm>
            <a:off x="686421" y="4400239"/>
            <a:ext cx="54852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2" name="Google Shape;7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Check how many students and adapt to typed in responses or poll, as needed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bbc6fc060_0_31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cbbc6fc060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cbbc6fc060_0_34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3cbbc6fc06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56858e9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b56858e9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bc085080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3bc085080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c33aedb22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g3c33aedb22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bc085080b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bc085080b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bc085080b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3bc085080b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3245dd10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g3c3245dd1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c3eb8b9ec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c3eb8b9ec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3ee2dae1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c3ee2dae1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f6e85787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f6e85787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cbbc6fc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2" name="Google Shape;852;g3cbbc6fc060_0_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c085080b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g3bc085080b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c3eb8b9ec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3c3eb8b9ec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are these topics important?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bbc6fc060_0_954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cbbc6fc060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bbc6fc060_0_958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g3cbbc6fc060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cbbc6fc060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7" name="Google Shape;927;g3cbbc6fc060_0_96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cbbc6fc060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5" name="Google Shape;935;g3cbbc6fc060_0_97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cbbc6fc060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1" name="Google Shape;941;g3cbbc6fc060_0_97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cbbc6fc060_0_980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g3cbbc6fc06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c48ab72c8e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3c48ab72c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bbc6fc060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1" name="Google Shape;961;g3cbbc6fc060_0_98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cbbc6fc060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5" name="Google Shape;975;g3cbbc6fc060_0_100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cbbc6fc060_0_1006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g3cbbc6fc060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bbc6fc060_0_1012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g3cbbc6fc060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bbc6fc060_0_1043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g3cbbc6fc060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cbbc6fc060_0_1048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g3cbbc6fc060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bbc6fc060_0_1071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g3cbbc6fc060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cbbc6fc060_0_1079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0" name="Google Shape;1060;g3cbbc6fc060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cbbc6fc060_0_1091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g3cbbc6fc060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cbbc6fc060_0_1100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3cbbc6fc060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cbbc6fc060_0_1110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g3cbbc6fc060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cbbc6fc060_0_1118:notes"/>
          <p:cNvSpPr/>
          <p:nvPr>
            <p:ph idx="2" type="sldImg"/>
          </p:nvPr>
        </p:nvSpPr>
        <p:spPr>
          <a:xfrm>
            <a:off x="381300" y="685800"/>
            <a:ext cx="6096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3cbbc6fc060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a70fd706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0" name="Google Shape;1150;g3a70fd706a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aa13868517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0" name="Google Shape;1160;g3aa13868517_0_8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aa13868517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1" name="Google Shape;1171;g3aa13868517_0_8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aa13868517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2" name="Google Shape;1182;g3aa13868517_0_8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a70fd706a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1" name="Google Shape;1201;g3a70fd706a6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a70fd706a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1" name="Google Shape;1221;g3a70fd706a6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a70fd706a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7" name="Google Shape;1237;g3a70fd706a6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aa13868517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5" name="Google Shape;1245;g3aa13868517_0_8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c33aedb2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3" name="Google Shape;1263;g3c33aedb2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bc1bc0276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9" name="Google Shape;1269;g3bc1bc0276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a70fd706a6_0_3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7" name="Google Shape;1277;g3a70fd706a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c83deaa63e_0_16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g3c83deaa63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aa13868517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0" name="Google Shape;1290;g3aa13868517_0_8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bc1bc027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6" name="Google Shape;1296;g3bc1bc027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e6839056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g3e6839056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c33aedb22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g3c33aedb22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c33aedb22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7" name="Google Shape;1317;g3c33aedb22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bc1bc0276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3" name="Google Shape;1323;g3bc1bc0276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bc1bc0276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g3bc1bc0276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c3eb8b9ec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g3c3eb8b9ec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b061b7ab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6" name="Google Shape;1346;g3b061b7aba8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5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bc513a1cea_0_291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2" name="Google Shape;12;g3bc513a1cea_0_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bc513a1cea_0_291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g3bc513a1cea_0_2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c513a1cea_0_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c513a1cea_0_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bc513a1cea_0_1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0" name="Google Shape;20;g3bc513a1cea_0_153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c513a1cea_0_173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g3bc513a1cea_0_1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c513a1cea_0_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c513a1cea_0_148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8" name="Google Shape;28;g3bc513a1cea_0_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3bc513a1cea_0_148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bc513a1cea_0_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c513a1cea_0_15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" name="Google Shape;33;g3bc513a1cea_0_15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4" name="Google Shape;34;g3bc513a1cea_0_157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5" name="Google Shape;35;g3bc513a1cea_0_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c513a1cea_0_1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g3bc513a1cea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bc513a1cea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g3bc513a1cea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c513a1cea_0_1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g3bc513a1cea_0_1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bc513a1cea_0_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c513a1cea_0_176"/>
          <p:cNvSpPr txBox="1"/>
          <p:nvPr>
            <p:ph type="title"/>
          </p:nvPr>
        </p:nvSpPr>
        <p:spPr>
          <a:xfrm>
            <a:off x="720924" y="92924"/>
            <a:ext cx="7702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g3bc513a1cea_0_176"/>
          <p:cNvSpPr txBox="1"/>
          <p:nvPr>
            <p:ph idx="1" type="body"/>
          </p:nvPr>
        </p:nvSpPr>
        <p:spPr>
          <a:xfrm>
            <a:off x="887234" y="1030859"/>
            <a:ext cx="73695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bc513a1cea_0_17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bc513a1cea_0_17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bc513a1cea_0_17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c513a1cea_0_18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bc513a1cea_0_18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bc513a1cea_0_182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c513a1cea_0_188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" name="Google Shape;57;g3bc513a1cea_0_1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513a1cea_0_19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g3bc513a1cea_0_1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c513a1cea_0_194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g3bc513a1cea_0_194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bc513a1cea_0_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c513a1cea_0_198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3bc513a1cea_0_1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513a1cea_0_20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" name="Google Shape;70;g3bc513a1cea_0_20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1" name="Google Shape;71;g3bc513a1cea_0_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513a1cea_0_20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" name="Google Shape;74;g3bc513a1cea_0_20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5" name="Google Shape;75;g3bc513a1cea_0_205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6" name="Google Shape;76;g3bc513a1cea_0_2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513a1cea_0_21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bc513a1cea_0_21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g3bc513a1cea_0_2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1" name="Google Shape;81;g3bc513a1cea_0_2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2" name="Google Shape;82;g3bc513a1cea_0_21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g3bc513a1cea_0_2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513a1cea_0_217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bc513a1cea_0_217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3bc513a1cea_0_2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8" name="Google Shape;88;g3bc513a1cea_0_2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9" name="Google Shape;89;g3bc513a1cea_0_217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0" name="Google Shape;90;g3bc513a1cea_0_2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c513a1cea_0_22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bc513a1cea_0_22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g3bc513a1cea_0_2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5" name="Google Shape;95;g3bc513a1cea_0_2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6" name="Google Shape;96;g3bc513a1cea_0_22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g3bc513a1cea_0_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513a1cea_0_23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3bc513a1cea_0_23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g3bc513a1cea_0_23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c513a1cea_0_2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513a1cea_0_236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g3bc513a1cea_0_236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06" name="Google Shape;106;g3bc513a1cea_0_236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bc513a1cea_0_2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513a1cea_0_2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513a1cea_0_2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513a1cea_0_2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" name="Google Shape;114;g3bc513a1cea_0_2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5" name="Google Shape;115;g3bc513a1cea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513a1cea_0_2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8" name="Google Shape;118;g3bc513a1cea_0_2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9" name="Google Shape;119;g3bc513a1cea_0_2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c513a1cea_0_2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g3bc513a1cea_0_2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g3bc513a1cea_0_253"/>
          <p:cNvSpPr txBox="1"/>
          <p:nvPr>
            <p:ph idx="12" type="sldNum"/>
          </p:nvPr>
        </p:nvSpPr>
        <p:spPr>
          <a:xfrm>
            <a:off x="-1" y="4703625"/>
            <a:ext cx="4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513a1cea_0_2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6" name="Google Shape;126;g3bc513a1cea_0_2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7" name="Google Shape;127;g3bc513a1cea_0_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513a1cea_0_2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0" name="Google Shape;130;g3bc513a1cea_0_2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1" name="Google Shape;131;g3bc513a1cea_0_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513a1cea_0_2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g3bc513a1cea_0_2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35" name="Google Shape;135;g3bc513a1cea_0_265"/>
          <p:cNvSpPr txBox="1"/>
          <p:nvPr>
            <p:ph idx="12" type="sldNum"/>
          </p:nvPr>
        </p:nvSpPr>
        <p:spPr>
          <a:xfrm>
            <a:off x="8595300" y="1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513a1cea_0_2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g3bc513a1cea_0_2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g3bc513a1cea_0_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c513a1cea_0_2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2" name="Google Shape;142;g3bc513a1cea_0_2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" name="Google Shape;143;g3bc513a1cea_0_2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c513a1cea_0_27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g3bc513a1cea_0_27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7" name="Google Shape;147;g3bc513a1cea_0_27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g3bc513a1cea_0_27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g3bc513a1cea_0_2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c513a1cea_0_28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g3bc513a1cea_0_28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g3bc513a1cea_0_28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g3bc513a1cea_0_28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3bc513a1cea_0_2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1">
  <p:cSld name="SECTION_HEADER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bc513a1cea_0_289" title="log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6803" y="4478267"/>
            <a:ext cx="910400" cy="2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1">
          <p15:clr>
            <a:srgbClr val="E46962"/>
          </p15:clr>
        </p15:guide>
        <p15:guide id="2" orient="horz" pos="176">
          <p15:clr>
            <a:srgbClr val="E46962"/>
          </p15:clr>
        </p15:guide>
        <p15:guide id="3" pos="5579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bbc6fc060_0_38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g3cbbc6fc060_0_3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cbbc6fc060_0_3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cbbc6fc060_0_3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bbc6fc060_0_36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70" name="Google Shape;170;g3cbbc6fc060_0_3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cbbc6fc060_0_36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cbbc6fc060_0_3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bbc6fc060_0_3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g3cbbc6fc060_0_3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76" name="Google Shape;176;g3cbbc6fc060_0_371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bbc6fc060_0_37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g3cbbc6fc060_0_37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80" name="Google Shape;180;g3cbbc6fc060_0_375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81" name="Google Shape;181;g3cbbc6fc060_0_3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bbc6fc060_0_3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g3cbbc6fc060_0_3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5" name="Google Shape;185;g3cbbc6fc060_0_3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bbc6fc060_0_3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bbc6fc060_0_39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0" name="Google Shape;190;g3cbbc6fc060_0_3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bbc6fc060_0_394"/>
          <p:cNvSpPr txBox="1"/>
          <p:nvPr>
            <p:ph type="title"/>
          </p:nvPr>
        </p:nvSpPr>
        <p:spPr>
          <a:xfrm>
            <a:off x="720924" y="92924"/>
            <a:ext cx="7702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g3cbbc6fc060_0_394"/>
          <p:cNvSpPr txBox="1"/>
          <p:nvPr>
            <p:ph idx="1" type="body"/>
          </p:nvPr>
        </p:nvSpPr>
        <p:spPr>
          <a:xfrm>
            <a:off x="887234" y="1030859"/>
            <a:ext cx="73695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cbbc6fc060_0_39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g3cbbc6fc060_0_39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g3cbbc6fc060_0_39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bbc6fc060_0_40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g3cbbc6fc060_0_40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g3cbbc6fc060_0_400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bbc6fc060_0_4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bbc6fc060_0_406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g3cbbc6fc060_0_4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bbc6fc060_0_409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g3cbbc6fc060_0_4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bbc6fc060_0_41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1" name="Google Shape;211;g3cbbc6fc060_0_412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cbbc6fc060_0_4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bbc6fc060_0_416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5" name="Google Shape;215;g3cbbc6fc060_0_4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bbc6fc060_0_419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g3cbbc6fc060_0_419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19" name="Google Shape;219;g3cbbc6fc060_0_4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bbc6fc060_0_42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g3cbbc6fc060_0_42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3" name="Google Shape;223;g3cbbc6fc060_0_42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4" name="Google Shape;224;g3cbbc6fc060_0_4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bbc6fc060_0_4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cbbc6fc060_0_42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g3cbbc6fc060_0_4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9" name="Google Shape;229;g3cbbc6fc060_0_4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0" name="Google Shape;230;g3cbbc6fc060_0_42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g3cbbc6fc060_0_4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bbc6fc060_0_435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cbbc6fc060_0_435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g3cbbc6fc060_0_4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6" name="Google Shape;236;g3cbbc6fc060_0_4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7" name="Google Shape;237;g3cbbc6fc060_0_435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8" name="Google Shape;238;g3cbbc6fc060_0_4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bbc6fc060_0_442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cbbc6fc060_0_442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g3cbbc6fc060_0_4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3" name="Google Shape;243;g3cbbc6fc060_0_4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4" name="Google Shape;244;g3cbbc6fc060_0_442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g3cbbc6fc060_0_4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bbc6fc060_0_449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g3cbbc6fc060_0_449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" name="Google Shape;249;g3cbbc6fc060_0_449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cbbc6fc060_0_4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bbc6fc060_0_454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" name="Google Shape;253;g3cbbc6fc060_0_454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254" name="Google Shape;254;g3cbbc6fc060_0_454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bbc6fc060_0_4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bbc6fc060_0_4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bc6fc060_0_4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bbc6fc060_0_4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" name="Google Shape;262;g3cbbc6fc060_0_4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3" name="Google Shape;263;g3cbbc6fc060_0_4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bbc6fc060_0_4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6" name="Google Shape;266;g3cbbc6fc060_0_4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7" name="Google Shape;267;g3cbbc6fc060_0_4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bbc6fc060_0_4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g3cbbc6fc060_0_4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g3cbbc6fc060_0_471"/>
          <p:cNvSpPr txBox="1"/>
          <p:nvPr>
            <p:ph idx="12" type="sldNum"/>
          </p:nvPr>
        </p:nvSpPr>
        <p:spPr>
          <a:xfrm>
            <a:off x="-1" y="4703625"/>
            <a:ext cx="4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bbc6fc060_0_4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4" name="Google Shape;274;g3cbbc6fc060_0_4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5" name="Google Shape;275;g3cbbc6fc060_0_4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bbc6fc060_0_4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8" name="Google Shape;278;g3cbbc6fc060_0_4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9" name="Google Shape;279;g3cbbc6fc060_0_4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bbc6fc060_0_4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g3cbbc6fc060_0_4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83" name="Google Shape;283;g3cbbc6fc060_0_483"/>
          <p:cNvSpPr txBox="1"/>
          <p:nvPr>
            <p:ph idx="12" type="sldNum"/>
          </p:nvPr>
        </p:nvSpPr>
        <p:spPr>
          <a:xfrm>
            <a:off x="8595300" y="1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bbc6fc060_0_4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g3cbbc6fc060_0_4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g3cbbc6fc060_0_4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bbc6fc060_0_4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0" name="Google Shape;290;g3cbbc6fc060_0_4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1" name="Google Shape;291;g3cbbc6fc060_0_4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bbc6fc060_0_11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" name="Google Shape;298;g3cbbc6fc060_0_11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99" name="Google Shape;299;g3cbbc6fc060_0_116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bbc6fc060_0_11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bbc6fc060_0_11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bbc6fc060_0_1176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6" name="Google Shape;306;g3cbbc6fc060_0_11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bbc6fc060_0_117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g3cbbc6fc060_0_117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g3cbbc6fc060_0_117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g3cbbc6fc060_0_11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bbc6fc060_0_1184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314" name="Google Shape;314;g3cbbc6fc060_0_11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cbbc6fc060_0_1184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cbbc6fc060_0_11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bbc6fc060_0_1189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9" name="Google Shape;319;g3cbbc6fc060_0_11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bbc6fc060_0_119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2" name="Google Shape;322;g3cbbc6fc060_0_11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bbc6fc060_0_1195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5" name="Google Shape;325;g3cbbc6fc060_0_1195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g3cbbc6fc060_0_11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bbc6fc060_0_1199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9" name="Google Shape;329;g3cbbc6fc060_0_11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bbc6fc060_0_120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g3cbbc6fc060_0_120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33" name="Google Shape;333;g3cbbc6fc060_0_1202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34" name="Google Shape;334;g3cbbc6fc060_0_12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bbc6fc060_0_120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g3cbbc6fc060_0_120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38" name="Google Shape;338;g3cbbc6fc060_0_12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bbc6fc060_0_121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1" name="Google Shape;341;g3cbbc6fc060_0_121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42" name="Google Shape;342;g3cbbc6fc060_0_1211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43" name="Google Shape;343;g3cbbc6fc060_0_1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bbc6fc060_0_121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cbbc6fc060_0_1216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g3cbbc6fc060_0_12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48" name="Google Shape;348;g3cbbc6fc060_0_12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49" name="Google Shape;349;g3cbbc6fc060_0_1216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0" name="Google Shape;350;g3cbbc6fc060_0_1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bbc6fc060_0_1223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cbbc6fc060_0_1223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g3cbbc6fc060_0_12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55" name="Google Shape;355;g3cbbc6fc060_0_12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56" name="Google Shape;356;g3cbbc6fc060_0_1223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57" name="Google Shape;357;g3cbbc6fc060_0_12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bbc6fc060_0_12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cbbc6fc060_0_123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g3cbbc6fc060_0_12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62" name="Google Shape;362;g3cbbc6fc060_0_12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63" name="Google Shape;363;g3cbbc6fc060_0_123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g3cbbc6fc060_0_12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bbc6fc060_0_1237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g3cbbc6fc060_0_1237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g3cbbc6fc060_0_123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cbbc6fc060_0_12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bbc6fc060_0_1242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2" name="Google Shape;372;g3cbbc6fc060_0_1242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373" name="Google Shape;373;g3cbbc6fc060_0_1242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cbbc6fc060_0_12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bbc6fc060_0_12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bbc6fc060_0_12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bbc6fc060_0_12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1" name="Google Shape;381;g3cbbc6fc060_0_12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2" name="Google Shape;382;g3cbbc6fc060_0_1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bbc6fc060_0_12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5" name="Google Shape;385;g3cbbc6fc060_0_12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6" name="Google Shape;386;g3cbbc6fc060_0_1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bbc6fc060_0_12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9" name="Google Shape;389;g3cbbc6fc060_0_12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0" name="Google Shape;390;g3cbbc6fc060_0_1259"/>
          <p:cNvSpPr txBox="1"/>
          <p:nvPr>
            <p:ph idx="12" type="sldNum"/>
          </p:nvPr>
        </p:nvSpPr>
        <p:spPr>
          <a:xfrm>
            <a:off x="8595300" y="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bbc6fc060_0_12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D7ED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cbbc6fc060_0_12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DF7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cbbc6fc060_0_12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bbc6fc060_0_12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7" name="Google Shape;397;g3cbbc6fc060_0_12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8" name="Google Shape;398;g3cbbc6fc060_0_12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bbc6fc060_0_12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1" name="Google Shape;401;g3cbbc6fc060_0_12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g3cbbc6fc060_0_12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bbc6fc060_0_127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9" name="Google Shape;409;g3cbbc6fc060_0_127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g3cbbc6fc060_0_127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1" name="Google Shape;411;g3cbbc6fc060_0_12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bbc6fc060_0_12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bbc6fc060_0_13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g3cbbc6fc060_0_13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7" name="Google Shape;417;g3cbbc6fc060_0_1387"/>
          <p:cNvSpPr txBox="1"/>
          <p:nvPr>
            <p:ph idx="12" type="sldNum"/>
          </p:nvPr>
        </p:nvSpPr>
        <p:spPr>
          <a:xfrm>
            <a:off x="-1" y="4703625"/>
            <a:ext cx="4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bbc6fc060_0_13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0" name="Google Shape;420;g3cbbc6fc060_0_13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1" name="Google Shape;421;g3cbbc6fc060_0_131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bbc6fc060_0_12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4" name="Google Shape;424;g3cbbc6fc060_0_12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25" name="Google Shape;425;g3cbbc6fc060_0_128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6" name="Google Shape;426;g3cbbc6fc060_0_1286"/>
          <p:cNvGrpSpPr/>
          <p:nvPr/>
        </p:nvGrpSpPr>
        <p:grpSpPr>
          <a:xfrm>
            <a:off x="8090329" y="4654074"/>
            <a:ext cx="959629" cy="388783"/>
            <a:chOff x="7440675" y="3793100"/>
            <a:chExt cx="1437000" cy="609951"/>
          </a:xfrm>
        </p:grpSpPr>
        <p:sp>
          <p:nvSpPr>
            <p:cNvPr id="427" name="Google Shape;427;g3cbbc6fc060_0_1286"/>
            <p:cNvSpPr/>
            <p:nvPr/>
          </p:nvSpPr>
          <p:spPr>
            <a:xfrm>
              <a:off x="7440675" y="3809125"/>
              <a:ext cx="1437000" cy="5766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pic>
          <p:nvPicPr>
            <p:cNvPr id="428" name="Google Shape;428;g3cbbc6fc060_0_1286"/>
            <p:cNvPicPr preferRelativeResize="0"/>
            <p:nvPr/>
          </p:nvPicPr>
          <p:blipFill rotWithShape="1">
            <a:blip r:embed="rId2">
              <a:alphaModFix/>
            </a:blip>
            <a:srcRect b="49961" l="25444" r="27469" t="35444"/>
            <a:stretch/>
          </p:blipFill>
          <p:spPr>
            <a:xfrm>
              <a:off x="7440675" y="3793100"/>
              <a:ext cx="1391626" cy="6099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bbc6fc060_0_129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235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1" name="Google Shape;431;g3cbbc6fc060_0_129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32" name="Google Shape;432;g3cbbc6fc060_0_129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33" name="Google Shape;433;g3cbbc6fc060_0_12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bbc6fc060_0_12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g3cbbc6fc060_0_12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g3cbbc6fc060_0_12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bbc6fc060_0_130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0" name="Google Shape;440;g3cbbc6fc060_0_13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bbc6fc060_0_1305"/>
          <p:cNvSpPr txBox="1"/>
          <p:nvPr>
            <p:ph type="title"/>
          </p:nvPr>
        </p:nvSpPr>
        <p:spPr>
          <a:xfrm>
            <a:off x="720924" y="92924"/>
            <a:ext cx="7702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3" name="Google Shape;443;g3cbbc6fc060_0_1305"/>
          <p:cNvSpPr txBox="1"/>
          <p:nvPr>
            <p:ph idx="1" type="body"/>
          </p:nvPr>
        </p:nvSpPr>
        <p:spPr>
          <a:xfrm>
            <a:off x="887234" y="1030859"/>
            <a:ext cx="73695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g3cbbc6fc060_0_130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g3cbbc6fc060_0_130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6" name="Google Shape;446;g3cbbc6fc060_0_130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bbc6fc060_0_13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bbc6fc060_0_1317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451" name="Google Shape;451;g3cbbc6fc060_0_13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cbbc6fc060_0_1317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cbbc6fc060_0_13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bbc6fc060_0_1322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" name="Google Shape;456;g3cbbc6fc060_0_13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bbc6fc060_0_1325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9" name="Google Shape;459;g3cbbc6fc060_0_13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bbc6fc060_0_132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2" name="Google Shape;462;g3cbbc6fc060_0_1328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g3cbbc6fc060_0_13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bbc6fc060_0_1332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6" name="Google Shape;466;g3cbbc6fc060_0_13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bbc6fc060_0_133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235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9" name="Google Shape;469;g3cbbc6fc060_0_133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70" name="Google Shape;470;g3cbbc6fc060_0_13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bbc6fc060_0_1339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8575" rotWithShape="0" dir="5400000" dist="19050">
              <a:srgbClr val="000000">
                <a:alpha val="4235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3" name="Google Shape;473;g3cbbc6fc060_0_1339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74" name="Google Shape;474;g3cbbc6fc060_0_1339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75" name="Google Shape;475;g3cbbc6fc060_0_13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bbc6fc060_0_134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cbbc6fc060_0_134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9" name="Google Shape;479;g3cbbc6fc060_0_13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80" name="Google Shape;480;g3cbbc6fc060_0_13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81" name="Google Shape;481;g3cbbc6fc060_0_134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g3cbbc6fc060_0_13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bbc6fc060_0_1351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cbbc6fc060_0_1351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g3cbbc6fc060_0_13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87" name="Google Shape;487;g3cbbc6fc060_0_13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88" name="Google Shape;488;g3cbbc6fc060_0_1351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89" name="Google Shape;489;g3cbbc6fc060_0_13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bbc6fc060_0_135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cbbc6fc060_0_135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3" name="Google Shape;493;g3cbbc6fc060_0_13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4" name="Google Shape;494;g3cbbc6fc060_0_13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5" name="Google Shape;495;g3cbbc6fc060_0_135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6" name="Google Shape;496;g3cbbc6fc060_0_13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bbc6fc060_0_1365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9" name="Google Shape;499;g3cbbc6fc060_0_1365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g3cbbc6fc060_0_1365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cbbc6fc060_0_13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cbbc6fc060_0_1370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4" name="Google Shape;504;g3cbbc6fc060_0_1370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505" name="Google Shape;505;g3cbbc6fc060_0_1370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cbbc6fc060_0_13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bbc6fc060_0_13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bbc6fc060_0_13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bbc6fc060_0_13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3" name="Google Shape;513;g3cbbc6fc060_0_13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4" name="Google Shape;514;g3cbbc6fc060_0_13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bbc6fc060_0_138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7" name="Google Shape;517;g3cbbc6fc060_0_138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8" name="Google Shape;518;g3cbbc6fc060_0_13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bbc6fc060_0_13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1" name="Google Shape;521;g3cbbc6fc060_0_13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2" name="Google Shape;522;g3cbbc6fc060_0_13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bbc6fc060_0_13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5" name="Google Shape;525;g3cbbc6fc060_0_13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6" name="Google Shape;526;g3cbbc6fc060_0_13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bbc6fc060_0_13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g3cbbc6fc060_0_13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30" name="Google Shape;530;g3cbbc6fc060_0_1399"/>
          <p:cNvSpPr txBox="1"/>
          <p:nvPr>
            <p:ph idx="12" type="sldNum"/>
          </p:nvPr>
        </p:nvSpPr>
        <p:spPr>
          <a:xfrm>
            <a:off x="8595300" y="1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bbc6fc060_0_14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3" name="Google Shape;533;g3cbbc6fc060_0_14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4" name="Google Shape;534;g3cbbc6fc060_0_14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bbc6fc060_0_140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D7ED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cbbc6fc060_0_140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DF7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bbc6fc060_0_14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D7ED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cbbc6fc060_0_14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DF7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83deaa63e_0_1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g3c83deaa63e_0_1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9" name="Google Shape;549;g3c83deaa63e_0_17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83deaa63e_0_171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552" name="Google Shape;552;g3c83deaa63e_0_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c83deaa63e_0_171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c83deaa63e_0_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83deaa63e_0_180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1431" rotWithShape="0" dir="5400000" dist="14288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7" name="Google Shape;557;g3c83deaa63e_0_180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58" name="Google Shape;558;g3c83deaa63e_0_180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59" name="Google Shape;559;g3c83deaa63e_0_1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c83deaa63e_0_18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2" name="Google Shape;562;g3c83deaa63e_0_18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3" name="Google Shape;563;g3c83deaa63e_0_18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4" name="Google Shape;564;g3c83deaa63e_0_18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83deaa63e_0_1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7" name="Google Shape;567;g3c83deaa63e_0_1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8" name="Google Shape;568;g3c83deaa63e_0_1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83deaa63e_0_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83deaa63e_0_196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3" name="Google Shape;573;g3c83deaa63e_0_1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c83deaa63e_0_199"/>
          <p:cNvSpPr txBox="1"/>
          <p:nvPr>
            <p:ph type="title"/>
          </p:nvPr>
        </p:nvSpPr>
        <p:spPr>
          <a:xfrm>
            <a:off x="720924" y="92924"/>
            <a:ext cx="7702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6" name="Google Shape;576;g3c83deaa63e_0_199"/>
          <p:cNvSpPr txBox="1"/>
          <p:nvPr>
            <p:ph idx="1" type="body"/>
          </p:nvPr>
        </p:nvSpPr>
        <p:spPr>
          <a:xfrm>
            <a:off x="887234" y="1030859"/>
            <a:ext cx="73695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77" name="Google Shape;577;g3c83deaa63e_0_19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8" name="Google Shape;578;g3c83deaa63e_0_19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g3c83deaa63e_0_199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c83deaa63e_0_20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2" name="Google Shape;582;g3c83deaa63e_0_20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3" name="Google Shape;583;g3c83deaa63e_0_20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83deaa63e_0_2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83deaa63e_0_211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8" name="Google Shape;588;g3c83deaa63e_0_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83deaa63e_0_214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1" name="Google Shape;591;g3c83deaa63e_0_2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83deaa63e_0_217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4" name="Google Shape;594;g3c83deaa63e_0_217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g3c83deaa63e_0_2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c83deaa63e_0_221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8" name="Google Shape;598;g3c83deaa63e_0_2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83deaa63e_0_224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1431" rotWithShape="0" dir="5400000" dist="14288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1" name="Google Shape;601;g3c83deaa63e_0_224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2" name="Google Shape;602;g3c83deaa63e_0_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83deaa63e_0_228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21431" rotWithShape="0" dir="5400000" dist="14288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5" name="Google Shape;605;g3c83deaa63e_0_228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6" name="Google Shape;606;g3c83deaa63e_0_228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7" name="Google Shape;607;g3c83deaa63e_0_2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c83deaa63e_0_23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c83deaa63e_0_233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1" name="Google Shape;611;g3c83deaa63e_0_2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12" name="Google Shape;612;g3c83deaa63e_0_2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13" name="Google Shape;613;g3c83deaa63e_0_233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g3c83deaa63e_0_2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83deaa63e_0_240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c83deaa63e_0_24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g3c83deaa63e_0_2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19" name="Google Shape;619;g3c83deaa63e_0_2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0" name="Google Shape;620;g3c83deaa63e_0_24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1" name="Google Shape;621;g3c83deaa63e_0_2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83deaa63e_0_24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c83deaa63e_0_247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g3c83deaa63e_0_2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6" name="Google Shape;626;g3c83deaa63e_0_2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7" name="Google Shape;627;g3c83deaa63e_0_247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g3c83deaa63e_0_2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c83deaa63e_0_254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1" name="Google Shape;631;g3c83deaa63e_0_254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2" name="Google Shape;632;g3c83deaa63e_0_254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c83deaa63e_0_2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83deaa63e_0_259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6" name="Google Shape;636;g3c83deaa63e_0_259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637" name="Google Shape;637;g3c83deaa63e_0_259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c83deaa63e_0_2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c83deaa63e_0_2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83deaa63e_0_2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c83deaa63e_0_2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5" name="Google Shape;645;g3c83deaa63e_0_2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6" name="Google Shape;646;g3c83deaa63e_0_2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83deaa63e_0_2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9" name="Google Shape;649;g3c83deaa63e_0_2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0" name="Google Shape;650;g3c83deaa63e_0_2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c83deaa63e_0_2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3" name="Google Shape;653;g3c83deaa63e_0_2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4" name="Google Shape;654;g3c83deaa63e_0_276"/>
          <p:cNvSpPr txBox="1"/>
          <p:nvPr>
            <p:ph idx="12" type="sldNum"/>
          </p:nvPr>
        </p:nvSpPr>
        <p:spPr>
          <a:xfrm>
            <a:off x="-1" y="4703625"/>
            <a:ext cx="4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c83deaa63e_0_2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7" name="Google Shape;657;g3c83deaa63e_0_2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8" name="Google Shape;658;g3c83deaa63e_0_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c83deaa63e_0_2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1" name="Google Shape;661;g3c83deaa63e_0_2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2" name="Google Shape;662;g3c83deaa63e_0_2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83deaa63e_0_2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5" name="Google Shape;665;g3c83deaa63e_0_2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66" name="Google Shape;666;g3c83deaa63e_0_288"/>
          <p:cNvSpPr txBox="1"/>
          <p:nvPr>
            <p:ph idx="12" type="sldNum"/>
          </p:nvPr>
        </p:nvSpPr>
        <p:spPr>
          <a:xfrm>
            <a:off x="8595300" y="1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c83deaa63e_0_2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9" name="Google Shape;669;g3c83deaa63e_0_2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0" name="Google Shape;670;g3c83deaa63e_0_2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c83deaa63e_0_29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3" name="Google Shape;673;g3c83deaa63e_0_29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4" name="Google Shape;674;g3c83deaa63e_0_2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83deaa63e_0_30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7" name="Google Shape;677;g3c83deaa63e_0_30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8" name="Google Shape;678;g3c83deaa63e_0_3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9" name="Google Shape;679;g3c83deaa63e_0_3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0" name="Google Shape;680;g3c83deaa63e_0_3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83deaa63e_0_30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3" name="Google Shape;683;g3c83deaa63e_0_30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84" name="Google Shape;684;g3c83deaa63e_0_30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5" name="Google Shape;685;g3c83deaa63e_0_30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6" name="Google Shape;686;g3c83deaa63e_0_30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1">
  <p:cSld name="SECTION_HEADER_1_1_1_1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g3c83deaa63e_0_312" title="log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6803" y="4478267"/>
            <a:ext cx="910400" cy="2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1">
          <p15:clr>
            <a:srgbClr val="E46962"/>
          </p15:clr>
        </p15:guide>
        <p15:guide id="2" orient="horz" pos="176">
          <p15:clr>
            <a:srgbClr val="E46962"/>
          </p15:clr>
        </p15:guide>
        <p15:guide id="3" pos="5579">
          <p15:clr>
            <a:srgbClr val="E46962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5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83deaa63e_0_314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91" name="Google Shape;691;g3c83deaa63e_0_3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3c83deaa63e_0_314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c83deaa63e_0_3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7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theme" Target="../theme/theme4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88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0.xml"/><Relationship Id="rId28" Type="http://schemas.openxmlformats.org/officeDocument/2006/relationships/theme" Target="../theme/theme5.xml"/><Relationship Id="rId27" Type="http://schemas.openxmlformats.org/officeDocument/2006/relationships/slideLayout" Target="../slideLayouts/slideLayout92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3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15.xml"/><Relationship Id="rId23" Type="http://schemas.openxmlformats.org/officeDocument/2006/relationships/slideLayout" Target="../slideLayouts/slideLayout11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17.xml"/><Relationship Id="rId25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31" Type="http://schemas.openxmlformats.org/officeDocument/2006/relationships/slideLayout" Target="../slideLayouts/slideLayout122.xml"/><Relationship Id="rId30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02.xml"/><Relationship Id="rId33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01.xml"/><Relationship Id="rId32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3.xml"/><Relationship Id="rId34" Type="http://schemas.openxmlformats.org/officeDocument/2006/relationships/theme" Target="../theme/theme6.xml"/><Relationship Id="rId15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08.xml"/><Relationship Id="rId16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09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45.xml"/><Relationship Id="rId21" Type="http://schemas.openxmlformats.org/officeDocument/2006/relationships/slideLayout" Target="../slideLayouts/slideLayout144.xml"/><Relationship Id="rId24" Type="http://schemas.openxmlformats.org/officeDocument/2006/relationships/slideLayout" Target="../slideLayouts/slideLayout147.xml"/><Relationship Id="rId23" Type="http://schemas.openxmlformats.org/officeDocument/2006/relationships/slideLayout" Target="../slideLayouts/slideLayout146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26" Type="http://schemas.openxmlformats.org/officeDocument/2006/relationships/slideLayout" Target="../slideLayouts/slideLayout149.xml"/><Relationship Id="rId25" Type="http://schemas.openxmlformats.org/officeDocument/2006/relationships/slideLayout" Target="../slideLayouts/slideLayout148.xml"/><Relationship Id="rId28" Type="http://schemas.openxmlformats.org/officeDocument/2006/relationships/slideLayout" Target="../slideLayouts/slideLayout151.xml"/><Relationship Id="rId27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9.xml"/><Relationship Id="rId29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54.xml"/><Relationship Id="rId3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34.xml"/><Relationship Id="rId33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33.xml"/><Relationship Id="rId3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36.xml"/><Relationship Id="rId35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35.xml"/><Relationship Id="rId34" Type="http://schemas.openxmlformats.org/officeDocument/2006/relationships/slideLayout" Target="../slideLayouts/slideLayout157.xml"/><Relationship Id="rId15" Type="http://schemas.openxmlformats.org/officeDocument/2006/relationships/slideLayout" Target="../slideLayouts/slideLayout138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37.xml"/><Relationship Id="rId36" Type="http://schemas.openxmlformats.org/officeDocument/2006/relationships/slideLayout" Target="../slideLayouts/slideLayout159.xml"/><Relationship Id="rId17" Type="http://schemas.openxmlformats.org/officeDocument/2006/relationships/slideLayout" Target="../slideLayouts/slideLayout140.xml"/><Relationship Id="rId16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c513a1cea_0_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g3bc513a1cea_0_1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g3bc513a1cea_0_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g3bc513a1cea_0_143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873349" y="3471329"/>
            <a:ext cx="2588982" cy="25889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bbc6fc060_0_3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0" name="Google Shape;160;g3cbbc6fc060_0_3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1" name="Google Shape;161;g3cbbc6fc060_0_3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g3cbbc6fc060_0_361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873349" y="3471329"/>
            <a:ext cx="2588982" cy="25889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bbc6fc060_0_11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94" name="Google Shape;294;g3cbbc6fc060_0_11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id="295" name="Google Shape;295;g3cbbc6fc060_0_1164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873349" y="3471329"/>
            <a:ext cx="2588982" cy="25889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bbc6fc060_0_12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05" name="Google Shape;405;g3cbbc6fc060_0_12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id="406" name="Google Shape;406;g3cbbc6fc060_0_1275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873349" y="3471329"/>
            <a:ext cx="2588982" cy="25889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  <p:sldLayoutId id="2147483771" r:id="rId29"/>
    <p:sldLayoutId id="2147483772" r:id="rId30"/>
    <p:sldLayoutId id="2147483773" r:id="rId31"/>
    <p:sldLayoutId id="2147483774" r:id="rId32"/>
    <p:sldLayoutId id="2147483775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83deaa63e_0_1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3" name="Google Shape;543;g3c83deaa63e_0_1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4" name="Google Shape;544;g3c83deaa63e_0_1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5" name="Google Shape;545;g3c83deaa63e_0_166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873349" y="3471329"/>
            <a:ext cx="2588982" cy="25889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09" r:id="rId34"/>
    <p:sldLayoutId id="2147483810" r:id="rId35"/>
    <p:sldLayoutId id="2147483811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://https/compute.anshaj.dev/" TargetMode="External"/><Relationship Id="rId5" Type="http://schemas.openxmlformats.org/officeDocument/2006/relationships/hyperlink" Target="http://github.com/anshajk" TargetMode="External"/><Relationship Id="rId6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ode.visualstudio.com/blogs/2025/02/24/introducing-copilot-agent-mode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ntigravity.google/" TargetMode="External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jnKR9t1CrOH91LmKndOmzvoCXRGNc1OOD9hb4ZfA_z8/edit?gid=0#gid=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rive.google.com/file/d/1Ph59hXgGKqPJw5EFOPwHWv0QC0Hzgb8W/view?usp=drive_link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hyperlink" Target="https://neo4j.com/blog/agentic-ai/what-is-ai-agent/" TargetMode="External"/><Relationship Id="rId7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ocs.langchain.com/oss/javascript/langgraph/workflows-agents" TargetMode="External"/><Relationship Id="rId4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Relationship Id="rId4" Type="http://schemas.openxmlformats.org/officeDocument/2006/relationships/hyperlink" Target="https://www.anthropic.com/engineering/building-effective-agent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0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arxiv.org/abs/2210.03629" TargetMode="External"/><Relationship Id="rId4" Type="http://schemas.openxmlformats.org/officeDocument/2006/relationships/image" Target="../media/image38.png"/><Relationship Id="rId5" Type="http://schemas.openxmlformats.org/officeDocument/2006/relationships/hyperlink" Target="https://aws.amazon.com/blogs/machine-learning/customize-agent-workflows-with-advanced-orchestration-techniques-using-strands-agents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Relationship Id="rId4" Type="http://schemas.openxmlformats.org/officeDocument/2006/relationships/hyperlink" Target="https://developer.nvidia.com/blog/introduction-to-llm-agents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1.png"/><Relationship Id="rId4" Type="http://schemas.openxmlformats.org/officeDocument/2006/relationships/image" Target="../media/image40.png"/><Relationship Id="rId9" Type="http://schemas.openxmlformats.org/officeDocument/2006/relationships/image" Target="../media/image52.gif"/><Relationship Id="rId5" Type="http://schemas.openxmlformats.org/officeDocument/2006/relationships/image" Target="../media/image68.png"/><Relationship Id="rId6" Type="http://schemas.openxmlformats.org/officeDocument/2006/relationships/image" Target="../media/image76.gif"/><Relationship Id="rId7" Type="http://schemas.openxmlformats.org/officeDocument/2006/relationships/image" Target="../media/image56.png"/><Relationship Id="rId8" Type="http://schemas.openxmlformats.org/officeDocument/2006/relationships/image" Target="../media/image48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Relationship Id="rId4" Type="http://schemas.openxmlformats.org/officeDocument/2006/relationships/image" Target="../media/image40.png"/><Relationship Id="rId9" Type="http://schemas.openxmlformats.org/officeDocument/2006/relationships/image" Target="../media/image62.jpg"/><Relationship Id="rId5" Type="http://schemas.openxmlformats.org/officeDocument/2006/relationships/image" Target="../media/image68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Relationship Id="rId8" Type="http://schemas.openxmlformats.org/officeDocument/2006/relationships/image" Target="../media/image61.jpg"/><Relationship Id="rId10" Type="http://schemas.openxmlformats.org/officeDocument/2006/relationships/image" Target="../media/image7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2.png"/><Relationship Id="rId4" Type="http://schemas.openxmlformats.org/officeDocument/2006/relationships/image" Target="../media/image59.png"/><Relationship Id="rId5" Type="http://schemas.openxmlformats.org/officeDocument/2006/relationships/image" Target="../media/image66.png"/><Relationship Id="rId6" Type="http://schemas.openxmlformats.org/officeDocument/2006/relationships/image" Target="../media/image57.png"/><Relationship Id="rId7" Type="http://schemas.openxmlformats.org/officeDocument/2006/relationships/image" Target="../media/image67.png"/><Relationship Id="rId8" Type="http://schemas.openxmlformats.org/officeDocument/2006/relationships/image" Target="../media/image7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drive.google.com/file/d/1ft5OmnkMS-btHoqlvxhGF5AFff2mOpCt/view?usp=drive_link" TargetMode="External"/><Relationship Id="rId4" Type="http://schemas.openxmlformats.org/officeDocument/2006/relationships/hyperlink" Target="https://docs.google.com/document/d/19xSMzhgHF90Vvy7Htzz6XRx5WuPJXNPg1PyTKfzS2tA/edit?usp=sharing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docs.google.com/document/d/1TZgno-_AuO6C1Pcg_DxrXNk7BB2FntddAfcsrgim8-M/edit?usp=sharing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drive.google.com/drive/folders/1Y1EB8qrLyTwPf2d0DgK_g7Oqe6ylRLbm?usp=sharing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drive.google.com/file/d/1mcMKFvU-HzU5G8sK995W4ajU6xHD_C4a/view?usp=sharing" TargetMode="External"/><Relationship Id="rId4" Type="http://schemas.openxmlformats.org/officeDocument/2006/relationships/image" Target="../media/image7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"/>
          <p:cNvSpPr txBox="1"/>
          <p:nvPr>
            <p:ph type="ctrTitle"/>
          </p:nvPr>
        </p:nvSpPr>
        <p:spPr>
          <a:xfrm>
            <a:off x="353250" y="1060675"/>
            <a:ext cx="843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solidFill>
                  <a:srgbClr val="00B0F0"/>
                </a:solidFill>
              </a:rPr>
              <a:t>Agentic AI Foundations</a:t>
            </a:r>
            <a:endParaRPr sz="4000">
              <a:solidFill>
                <a:srgbClr val="00B0F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sz="5000">
              <a:solidFill>
                <a:srgbClr val="3896D2"/>
              </a:solidFill>
            </a:endParaRPr>
          </a:p>
        </p:txBody>
      </p:sp>
      <p:sp>
        <p:nvSpPr>
          <p:cNvPr id="699" name="Google Shape;699;p1"/>
          <p:cNvSpPr txBox="1"/>
          <p:nvPr/>
        </p:nvSpPr>
        <p:spPr>
          <a:xfrm>
            <a:off x="1558012" y="3861425"/>
            <a:ext cx="6027975" cy="6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Anshaj Khare</a:t>
            </a:r>
            <a:endParaRPr b="1" i="0" sz="34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"/>
          <p:cNvSpPr/>
          <p:nvPr/>
        </p:nvSpPr>
        <p:spPr>
          <a:xfrm>
            <a:off x="247650" y="473719"/>
            <a:ext cx="851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Introduction – Anshaj Khare</a:t>
            </a:r>
            <a:endParaRPr b="1" i="0" sz="3000" u="none" cap="none" strike="noStrike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05" name="Google Shape;7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200" y="2724145"/>
            <a:ext cx="1787328" cy="179021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"/>
          <p:cNvSpPr txBox="1"/>
          <p:nvPr/>
        </p:nvSpPr>
        <p:spPr>
          <a:xfrm>
            <a:off x="247650" y="1457438"/>
            <a:ext cx="60270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been working on data science since </a:t>
            </a:r>
            <a:r>
              <a:rPr b="1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I’ve worked for 4 startups before joining Microsoft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been working at Microsoft for 4+ years as a ML Engineer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my career, I’ve worked as a backend engineer, a devops engineer, a data engineer and as a Machine learning engineer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 taught over 4000+ learners - Python, Data Science and Gen AI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Author:  </a:t>
            </a:r>
            <a:r>
              <a:rPr b="0" i="0" lang="en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https//compute.anshaj.dev/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✔"/>
            </a:pP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i="0" lang="en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http://github.com/anshajk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206" y="552563"/>
            <a:ext cx="1532076" cy="2042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Welcome to today’s class, before we begin,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pop into the chat: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3" name="Google Shape;713;p3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3"/>
          <p:cNvSpPr txBox="1"/>
          <p:nvPr>
            <p:ph idx="1" type="body"/>
          </p:nvPr>
        </p:nvSpPr>
        <p:spPr>
          <a:xfrm>
            <a:off x="1123900" y="1993825"/>
            <a:ext cx="155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lt1"/>
                </a:solidFill>
              </a:rPr>
              <a:t>Your Name</a:t>
            </a:r>
            <a:endParaRPr b="1" sz="2000"/>
          </a:p>
        </p:txBody>
      </p:sp>
      <p:grpSp>
        <p:nvGrpSpPr>
          <p:cNvPr id="715" name="Google Shape;715;p3"/>
          <p:cNvGrpSpPr/>
          <p:nvPr/>
        </p:nvGrpSpPr>
        <p:grpSpPr>
          <a:xfrm>
            <a:off x="2808225" y="1897675"/>
            <a:ext cx="1427268" cy="1426368"/>
            <a:chOff x="3145150" y="1332175"/>
            <a:chExt cx="1427268" cy="1426368"/>
          </a:xfrm>
        </p:grpSpPr>
        <p:sp>
          <p:nvSpPr>
            <p:cNvPr id="716" name="Google Shape;716;p3"/>
            <p:cNvSpPr/>
            <p:nvPr/>
          </p:nvSpPr>
          <p:spPr>
            <a:xfrm>
              <a:off x="3145150" y="1332175"/>
              <a:ext cx="765000" cy="765000"/>
            </a:xfrm>
            <a:prstGeom prst="ellipse">
              <a:avLst/>
            </a:prstGeom>
            <a:solidFill>
              <a:srgbClr val="FBB83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💬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7" name="Google Shape;717;p3"/>
            <p:cNvCxnSpPr>
              <a:endCxn id="716" idx="5"/>
            </p:cNvCxnSpPr>
            <p:nvPr/>
          </p:nvCxnSpPr>
          <p:spPr>
            <a:xfrm rot="10800000">
              <a:off x="3798118" y="1985143"/>
              <a:ext cx="774300" cy="773400"/>
            </a:xfrm>
            <a:prstGeom prst="straightConnector1">
              <a:avLst/>
            </a:prstGeom>
            <a:noFill/>
            <a:ln cap="flat" cmpd="sng" w="19050">
              <a:solidFill>
                <a:srgbClr val="FBB83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18" name="Google Shape;718;p3"/>
          <p:cNvGrpSpPr/>
          <p:nvPr/>
        </p:nvGrpSpPr>
        <p:grpSpPr>
          <a:xfrm>
            <a:off x="4235407" y="1897675"/>
            <a:ext cx="1424868" cy="1428768"/>
            <a:chOff x="4572332" y="1332175"/>
            <a:chExt cx="1424868" cy="1428768"/>
          </a:xfrm>
        </p:grpSpPr>
        <p:sp>
          <p:nvSpPr>
            <p:cNvPr id="719" name="Google Shape;719;p3"/>
            <p:cNvSpPr/>
            <p:nvPr/>
          </p:nvSpPr>
          <p:spPr>
            <a:xfrm>
              <a:off x="5232200" y="1332175"/>
              <a:ext cx="765000" cy="765000"/>
            </a:xfrm>
            <a:prstGeom prst="ellipse">
              <a:avLst/>
            </a:prstGeom>
            <a:solidFill>
              <a:srgbClr val="FB8569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👷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20" name="Google Shape;720;p3"/>
            <p:cNvCxnSpPr>
              <a:endCxn id="719" idx="3"/>
            </p:cNvCxnSpPr>
            <p:nvPr/>
          </p:nvCxnSpPr>
          <p:spPr>
            <a:xfrm flipH="1" rot="10800000">
              <a:off x="4572332" y="1985143"/>
              <a:ext cx="771900" cy="775800"/>
            </a:xfrm>
            <a:prstGeom prst="straightConnector1">
              <a:avLst/>
            </a:prstGeom>
            <a:noFill/>
            <a:ln cap="flat" cmpd="sng" w="19050">
              <a:solidFill>
                <a:srgbClr val="FB856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1" name="Google Shape;721;p3"/>
          <p:cNvGrpSpPr/>
          <p:nvPr/>
        </p:nvGrpSpPr>
        <p:grpSpPr>
          <a:xfrm>
            <a:off x="2808225" y="3169032"/>
            <a:ext cx="1429668" cy="1428768"/>
            <a:chOff x="3145150" y="2755932"/>
            <a:chExt cx="1429668" cy="1428768"/>
          </a:xfrm>
        </p:grpSpPr>
        <p:sp>
          <p:nvSpPr>
            <p:cNvPr id="722" name="Google Shape;722;p3"/>
            <p:cNvSpPr/>
            <p:nvPr/>
          </p:nvSpPr>
          <p:spPr>
            <a:xfrm>
              <a:off x="3145150" y="3419700"/>
              <a:ext cx="765000" cy="765000"/>
            </a:xfrm>
            <a:prstGeom prst="ellipse">
              <a:avLst/>
            </a:prstGeom>
            <a:solidFill>
              <a:srgbClr val="E850E0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🏠</a:t>
              </a:r>
              <a:endParaRPr b="0" i="0" sz="32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23" name="Google Shape;723;p3"/>
            <p:cNvCxnSpPr>
              <a:endCxn id="722" idx="7"/>
            </p:cNvCxnSpPr>
            <p:nvPr/>
          </p:nvCxnSpPr>
          <p:spPr>
            <a:xfrm flipH="1">
              <a:off x="3798118" y="2755932"/>
              <a:ext cx="776700" cy="775800"/>
            </a:xfrm>
            <a:prstGeom prst="straightConnector1">
              <a:avLst/>
            </a:prstGeom>
            <a:noFill/>
            <a:ln cap="flat" cmpd="sng" w="19050">
              <a:solidFill>
                <a:srgbClr val="E85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4" name="Google Shape;724;p3"/>
          <p:cNvGrpSpPr/>
          <p:nvPr/>
        </p:nvGrpSpPr>
        <p:grpSpPr>
          <a:xfrm>
            <a:off x="4237807" y="3174132"/>
            <a:ext cx="1422468" cy="1423668"/>
            <a:chOff x="4574732" y="2761032"/>
            <a:chExt cx="1422468" cy="1423668"/>
          </a:xfrm>
        </p:grpSpPr>
        <p:sp>
          <p:nvSpPr>
            <p:cNvPr id="725" name="Google Shape;725;p3"/>
            <p:cNvSpPr/>
            <p:nvPr/>
          </p:nvSpPr>
          <p:spPr>
            <a:xfrm>
              <a:off x="5232200" y="3419700"/>
              <a:ext cx="765000" cy="765000"/>
            </a:xfrm>
            <a:prstGeom prst="ellipse">
              <a:avLst/>
            </a:prstGeom>
            <a:solidFill>
              <a:srgbClr val="FB569C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🏢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26" name="Google Shape;726;p3"/>
            <p:cNvCxnSpPr>
              <a:endCxn id="725" idx="1"/>
            </p:cNvCxnSpPr>
            <p:nvPr/>
          </p:nvCxnSpPr>
          <p:spPr>
            <a:xfrm>
              <a:off x="4574732" y="2761032"/>
              <a:ext cx="769500" cy="770700"/>
            </a:xfrm>
            <a:prstGeom prst="straightConnector1">
              <a:avLst/>
            </a:prstGeom>
            <a:noFill/>
            <a:ln cap="flat" cmpd="sng" w="19050">
              <a:solidFill>
                <a:srgbClr val="FB569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7" name="Google Shape;727;p3"/>
          <p:cNvGrpSpPr/>
          <p:nvPr/>
        </p:nvGrpSpPr>
        <p:grpSpPr>
          <a:xfrm>
            <a:off x="3648650" y="2662138"/>
            <a:ext cx="1171200" cy="1171200"/>
            <a:chOff x="5587975" y="1952850"/>
            <a:chExt cx="1171200" cy="1171200"/>
          </a:xfrm>
        </p:grpSpPr>
        <p:sp>
          <p:nvSpPr>
            <p:cNvPr id="728" name="Google Shape;728;p3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4500" u="none" cap="none" strike="noStrike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👤</a:t>
              </a:r>
              <a:endPara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3"/>
          <p:cNvSpPr txBox="1"/>
          <p:nvPr>
            <p:ph idx="1" type="body"/>
          </p:nvPr>
        </p:nvSpPr>
        <p:spPr>
          <a:xfrm>
            <a:off x="5909400" y="1993825"/>
            <a:ext cx="128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lt1"/>
                </a:solidFill>
              </a:rPr>
              <a:t>Role</a:t>
            </a:r>
            <a:endParaRPr b="1" sz="2000"/>
          </a:p>
        </p:txBody>
      </p:sp>
      <p:sp>
        <p:nvSpPr>
          <p:cNvPr id="731" name="Google Shape;731;p3"/>
          <p:cNvSpPr txBox="1"/>
          <p:nvPr>
            <p:ph idx="1" type="body"/>
          </p:nvPr>
        </p:nvSpPr>
        <p:spPr>
          <a:xfrm>
            <a:off x="1123900" y="3928950"/>
            <a:ext cx="142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lt1"/>
                </a:solidFill>
              </a:rPr>
              <a:t>Location</a:t>
            </a:r>
            <a:endParaRPr b="1" sz="2000"/>
          </a:p>
        </p:txBody>
      </p:sp>
      <p:sp>
        <p:nvSpPr>
          <p:cNvPr id="732" name="Google Shape;732;p3"/>
          <p:cNvSpPr txBox="1"/>
          <p:nvPr>
            <p:ph idx="1" type="body"/>
          </p:nvPr>
        </p:nvSpPr>
        <p:spPr>
          <a:xfrm>
            <a:off x="5842000" y="3928950"/>
            <a:ext cx="193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lt1"/>
                </a:solidFill>
              </a:rPr>
              <a:t>Company</a:t>
            </a:r>
            <a:endParaRPr b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000"/>
              <a:t>Optimize Your Experience</a:t>
            </a:r>
            <a:endParaRPr b="1" sz="3000"/>
          </a:p>
        </p:txBody>
      </p:sp>
      <p:pic>
        <p:nvPicPr>
          <p:cNvPr id="738" name="Google Shape;7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1450" y="790838"/>
            <a:ext cx="2263800" cy="2263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9" name="Google Shape;7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825" y="2682000"/>
            <a:ext cx="2207700" cy="2207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0" name="Google Shape;740;p4"/>
          <p:cNvSpPr txBox="1"/>
          <p:nvPr>
            <p:ph idx="1" type="body"/>
          </p:nvPr>
        </p:nvSpPr>
        <p:spPr>
          <a:xfrm>
            <a:off x="457200" y="1287188"/>
            <a:ext cx="5541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✅"/>
            </a:pPr>
            <a:r>
              <a:rPr lang="en" sz="1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Interact with your instructors via Sunday live class.</a:t>
            </a:r>
            <a:endParaRPr sz="1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✅"/>
            </a:pPr>
            <a:r>
              <a:rPr lang="en" sz="1600">
                <a:solidFill>
                  <a:schemeClr val="lt1"/>
                </a:solidFill>
              </a:rPr>
              <a:t>Don’t be shy to speak up and get clarifications !</a:t>
            </a:r>
            <a:endParaRPr sz="1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1" name="Google Shape;741;p4"/>
          <p:cNvSpPr txBox="1"/>
          <p:nvPr>
            <p:ph idx="1" type="body"/>
          </p:nvPr>
        </p:nvSpPr>
        <p:spPr>
          <a:xfrm>
            <a:off x="2685300" y="3337950"/>
            <a:ext cx="6147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✅"/>
            </a:pPr>
            <a:r>
              <a:rPr lang="en" sz="1600">
                <a:solidFill>
                  <a:schemeClr val="lt1"/>
                </a:solidFill>
              </a:rPr>
              <a:t>Solve your assignments, MCQs and other assessments and get   feedback (Thursday review session)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✅"/>
            </a:pPr>
            <a:r>
              <a:rPr lang="en" sz="1600">
                <a:solidFill>
                  <a:schemeClr val="lt1"/>
                </a:solidFill>
              </a:rPr>
              <a:t>Use your resources! It’s your experience – what you put in is what you’ll get out.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cbbc6fc060_0_319"/>
          <p:cNvSpPr txBox="1"/>
          <p:nvPr>
            <p:ph type="title"/>
          </p:nvPr>
        </p:nvSpPr>
        <p:spPr>
          <a:xfrm>
            <a:off x="311700" y="387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Before we start / How we got here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</p:txBody>
      </p:sp>
      <p:cxnSp>
        <p:nvCxnSpPr>
          <p:cNvPr id="747" name="Google Shape;747;g3cbbc6fc060_0_319"/>
          <p:cNvCxnSpPr/>
          <p:nvPr/>
        </p:nvCxnSpPr>
        <p:spPr>
          <a:xfrm>
            <a:off x="454575" y="1794924"/>
            <a:ext cx="8234700" cy="0"/>
          </a:xfrm>
          <a:prstGeom prst="straightConnector1">
            <a:avLst/>
          </a:prstGeom>
          <a:noFill/>
          <a:ln cap="flat" cmpd="sng" w="418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8" name="Google Shape;748;g3cbbc6fc060_0_319"/>
          <p:cNvSpPr/>
          <p:nvPr/>
        </p:nvSpPr>
        <p:spPr>
          <a:xfrm>
            <a:off x="1458807" y="1704544"/>
            <a:ext cx="180600" cy="180600"/>
          </a:xfrm>
          <a:prstGeom prst="ellipse">
            <a:avLst/>
          </a:prstGeom>
          <a:solidFill>
            <a:srgbClr val="A1B400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cbbc6fc060_0_319"/>
          <p:cNvSpPr/>
          <p:nvPr/>
        </p:nvSpPr>
        <p:spPr>
          <a:xfrm>
            <a:off x="459924" y="2045981"/>
            <a:ext cx="2209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A1B400"/>
                </a:solidFill>
                <a:latin typeface="Fira Sans"/>
                <a:ea typeface="Fira Sans"/>
                <a:cs typeface="Fira Sans"/>
                <a:sym typeface="Fira Sans"/>
              </a:rPr>
              <a:t>1970s – 1990s</a:t>
            </a:r>
            <a:endParaRPr b="0" i="0" sz="1100" u="none" cap="none" strike="noStrike">
              <a:solidFill>
                <a:srgbClr val="A1B4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preencoded.png" id="750" name="Google Shape;750;g3cbbc6fc060_0_3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172" y="2347250"/>
            <a:ext cx="502113" cy="502113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g3cbbc6fc060_0_319"/>
          <p:cNvSpPr/>
          <p:nvPr/>
        </p:nvSpPr>
        <p:spPr>
          <a:xfrm>
            <a:off x="554998" y="2899576"/>
            <a:ext cx="2209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Rule-Based Systems</a:t>
            </a:r>
            <a:endParaRPr b="0" i="0" sz="15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2" name="Google Shape;752;g3cbbc6fc060_0_319"/>
          <p:cNvSpPr/>
          <p:nvPr/>
        </p:nvSpPr>
        <p:spPr>
          <a:xfrm>
            <a:off x="554998" y="3251056"/>
            <a:ext cx="2209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If-then logic, expert systems,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hand-coded rules.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3" name="Google Shape;753;g3cbbc6fc060_0_319"/>
          <p:cNvSpPr/>
          <p:nvPr/>
        </p:nvSpPr>
        <p:spPr>
          <a:xfrm>
            <a:off x="554998" y="3853593"/>
            <a:ext cx="2209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Brittle, hard to maintain,</a:t>
            </a:r>
            <a:endParaRPr b="0" i="0" sz="1100" u="none" cap="none" strike="noStrike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couldn't handle the unexpected.</a:t>
            </a:r>
            <a:endParaRPr b="0" i="0" sz="1100" u="none" cap="none" strike="noStrike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4" name="Google Shape;754;g3cbbc6fc060_0_319"/>
          <p:cNvSpPr/>
          <p:nvPr/>
        </p:nvSpPr>
        <p:spPr>
          <a:xfrm>
            <a:off x="4320868" y="1704544"/>
            <a:ext cx="180600" cy="180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cbbc6fc060_0_319"/>
          <p:cNvSpPr/>
          <p:nvPr/>
        </p:nvSpPr>
        <p:spPr>
          <a:xfrm>
            <a:off x="3321985" y="2045981"/>
            <a:ext cx="2209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285F4"/>
                </a:solidFill>
                <a:latin typeface="Fira Sans"/>
                <a:ea typeface="Fira Sans"/>
                <a:cs typeface="Fira Sans"/>
                <a:sym typeface="Fira Sans"/>
              </a:rPr>
              <a:t>2000s – 2010s</a:t>
            </a:r>
            <a:endParaRPr b="0" i="0" sz="11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preencoded.png" id="756" name="Google Shape;756;g3cbbc6fc060_0_3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0233" y="2347250"/>
            <a:ext cx="502113" cy="502113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cbbc6fc060_0_319"/>
          <p:cNvSpPr/>
          <p:nvPr/>
        </p:nvSpPr>
        <p:spPr>
          <a:xfrm>
            <a:off x="3417059" y="2899576"/>
            <a:ext cx="2209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Machine Learning</a:t>
            </a:r>
            <a:endParaRPr b="0" i="0" sz="15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8" name="Google Shape;758;g3cbbc6fc060_0_319"/>
          <p:cNvSpPr/>
          <p:nvPr/>
        </p:nvSpPr>
        <p:spPr>
          <a:xfrm>
            <a:off x="3417059" y="3251056"/>
            <a:ext cx="2209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Learn patterns from data.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Classification, prediction, recs.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9" name="Google Shape;759;g3cbbc6fc060_0_319"/>
          <p:cNvSpPr/>
          <p:nvPr/>
        </p:nvSpPr>
        <p:spPr>
          <a:xfrm>
            <a:off x="3417059" y="3853593"/>
            <a:ext cx="2209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Powerful but narrow</a:t>
            </a:r>
            <a:br>
              <a:rPr b="0" i="1" lang="en" sz="11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1" lang="en" sz="11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one model &lt;-&gt; one task.</a:t>
            </a:r>
            <a:endParaRPr b="0" i="0" sz="1100" u="none" cap="none" strike="noStrike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0" name="Google Shape;760;g3cbbc6fc060_0_319"/>
          <p:cNvSpPr/>
          <p:nvPr/>
        </p:nvSpPr>
        <p:spPr>
          <a:xfrm>
            <a:off x="7182928" y="1704544"/>
            <a:ext cx="180600" cy="1806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cbbc6fc060_0_319"/>
          <p:cNvSpPr/>
          <p:nvPr/>
        </p:nvSpPr>
        <p:spPr>
          <a:xfrm>
            <a:off x="6174538" y="2045981"/>
            <a:ext cx="2209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2020s</a:t>
            </a:r>
            <a:endParaRPr b="0" i="0" sz="11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preencoded.png" id="762" name="Google Shape;762;g3cbbc6fc060_0_3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2294" y="2347250"/>
            <a:ext cx="502113" cy="502113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3cbbc6fc060_0_319"/>
          <p:cNvSpPr/>
          <p:nvPr/>
        </p:nvSpPr>
        <p:spPr>
          <a:xfrm>
            <a:off x="6279120" y="2899576"/>
            <a:ext cx="2209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Generative AI</a:t>
            </a:r>
            <a:endParaRPr b="0" i="0" sz="15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4" name="Google Shape;764;g3cbbc6fc060_0_319"/>
          <p:cNvSpPr/>
          <p:nvPr/>
        </p:nvSpPr>
        <p:spPr>
          <a:xfrm>
            <a:off x="6279120" y="3251056"/>
            <a:ext cx="2209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Generates text, code, images.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General-purpose &amp; conversational.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bbc6fc060_0_341"/>
          <p:cNvSpPr txBox="1"/>
          <p:nvPr>
            <p:ph type="title"/>
          </p:nvPr>
        </p:nvSpPr>
        <p:spPr>
          <a:xfrm>
            <a:off x="511350" y="416194"/>
            <a:ext cx="826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And now GenAI is changing </a:t>
            </a:r>
            <a:r>
              <a:rPr b="1" lang="en">
                <a:solidFill>
                  <a:schemeClr val="accent5"/>
                </a:solidFill>
              </a:rPr>
              <a:t>everything</a:t>
            </a:r>
            <a:r>
              <a:rPr b="1" lang="en"/>
              <a:t>…</a:t>
            </a:r>
            <a:endParaRPr b="1"/>
          </a:p>
        </p:txBody>
      </p:sp>
      <p:sp>
        <p:nvSpPr>
          <p:cNvPr id="770" name="Google Shape;770;g3cbbc6fc060_0_341"/>
          <p:cNvSpPr/>
          <p:nvPr/>
        </p:nvSpPr>
        <p:spPr>
          <a:xfrm>
            <a:off x="622877" y="1348745"/>
            <a:ext cx="3668100" cy="3093600"/>
          </a:xfrm>
          <a:prstGeom prst="roundRect">
            <a:avLst>
              <a:gd fmla="val 16667" name="adj"/>
            </a:avLst>
          </a:prstGeom>
          <a:noFill/>
          <a:ln cap="flat" cmpd="sng" w="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73656" rotWithShape="0" algn="bl" dir="8100000" dist="24552">
              <a:srgbClr val="000000">
                <a:alpha val="20000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chemeClr val="accent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cbbc6fc060_0_341"/>
          <p:cNvSpPr/>
          <p:nvPr/>
        </p:nvSpPr>
        <p:spPr>
          <a:xfrm>
            <a:off x="2103361" y="1658099"/>
            <a:ext cx="706800" cy="706800"/>
          </a:xfrm>
          <a:prstGeom prst="ellipse">
            <a:avLst/>
          </a:prstGeom>
          <a:solidFill>
            <a:srgbClr val="1A1A2E"/>
          </a:solidFill>
          <a:ln cap="flat" cmpd="sng" w="245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2" name="Google Shape;772;g3cbbc6fc060_0_3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0135" y="1834873"/>
            <a:ext cx="353548" cy="353548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g3cbbc6fc060_0_341"/>
          <p:cNvSpPr/>
          <p:nvPr/>
        </p:nvSpPr>
        <p:spPr>
          <a:xfrm>
            <a:off x="622877" y="2497775"/>
            <a:ext cx="3668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How</a:t>
            </a:r>
            <a:endParaRPr b="0" i="0" sz="2100" u="none" cap="none" strike="noStrike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4" name="Google Shape;774;g3cbbc6fc060_0_341"/>
          <p:cNvSpPr/>
          <p:nvPr/>
        </p:nvSpPr>
        <p:spPr>
          <a:xfrm>
            <a:off x="622877" y="2807130"/>
            <a:ext cx="3668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we build software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5" name="Google Shape;775;g3cbbc6fc060_0_341"/>
          <p:cNvSpPr/>
          <p:nvPr/>
        </p:nvSpPr>
        <p:spPr>
          <a:xfrm>
            <a:off x="1064813" y="3249065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AI-assisted coding &amp; code review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6" name="Google Shape;776;g3cbbc6fc060_0_341"/>
          <p:cNvSpPr/>
          <p:nvPr/>
        </p:nvSpPr>
        <p:spPr>
          <a:xfrm>
            <a:off x="1064813" y="3558419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AI-driven testing &amp; debugging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7" name="Google Shape;777;g3cbbc6fc060_0_341"/>
          <p:cNvSpPr/>
          <p:nvPr/>
        </p:nvSpPr>
        <p:spPr>
          <a:xfrm>
            <a:off x="1064813" y="3867773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AIOps -agents handling ops  tasks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8" name="Google Shape;778;g3cbbc6fc060_0_341"/>
          <p:cNvSpPr/>
          <p:nvPr/>
        </p:nvSpPr>
        <p:spPr>
          <a:xfrm>
            <a:off x="4556103" y="1348745"/>
            <a:ext cx="3668100" cy="3093600"/>
          </a:xfrm>
          <a:prstGeom prst="roundRect">
            <a:avLst>
              <a:gd fmla="val 16667" name="adj"/>
            </a:avLst>
          </a:prstGeom>
          <a:noFill/>
          <a:ln cap="flat" cmpd="sng" w="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73656" rotWithShape="0" algn="bl" dir="8100000" dist="24552">
              <a:srgbClr val="000000">
                <a:alpha val="20000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cbbc6fc060_0_341"/>
          <p:cNvSpPr/>
          <p:nvPr/>
        </p:nvSpPr>
        <p:spPr>
          <a:xfrm>
            <a:off x="6036586" y="1658099"/>
            <a:ext cx="706800" cy="706800"/>
          </a:xfrm>
          <a:prstGeom prst="ellipse">
            <a:avLst/>
          </a:prstGeom>
          <a:solidFill>
            <a:srgbClr val="1A1A2E"/>
          </a:solidFill>
          <a:ln cap="flat" cmpd="sng" w="245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0" name="Google Shape;780;g3cbbc6fc060_0_3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360" y="1834873"/>
            <a:ext cx="353548" cy="35354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g3cbbc6fc060_0_341"/>
          <p:cNvSpPr/>
          <p:nvPr/>
        </p:nvSpPr>
        <p:spPr>
          <a:xfrm>
            <a:off x="4556103" y="2497775"/>
            <a:ext cx="3668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What</a:t>
            </a:r>
            <a:endParaRPr b="0" i="0" sz="21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2" name="Google Shape;782;g3cbbc6fc060_0_341"/>
          <p:cNvSpPr/>
          <p:nvPr/>
        </p:nvSpPr>
        <p:spPr>
          <a:xfrm>
            <a:off x="4556103" y="2807130"/>
            <a:ext cx="3668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software we build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3" name="Google Shape;783;g3cbbc6fc060_0_341"/>
          <p:cNvSpPr/>
          <p:nvPr/>
        </p:nvSpPr>
        <p:spPr>
          <a:xfrm>
            <a:off x="4998038" y="3249065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AI-native products &amp; features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4" name="Google Shape;784;g3cbbc6fc060_0_341"/>
          <p:cNvSpPr/>
          <p:nvPr/>
        </p:nvSpPr>
        <p:spPr>
          <a:xfrm>
            <a:off x="4998038" y="3558419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Conversational interfaces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5" name="Google Shape;785;g3cbbc6fc060_0_341"/>
          <p:cNvSpPr/>
          <p:nvPr/>
        </p:nvSpPr>
        <p:spPr>
          <a:xfrm>
            <a:off x="4998038" y="3867773"/>
            <a:ext cx="2784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ira Sans"/>
              <a:buChar char="•"/>
            </a:pPr>
            <a:r>
              <a:rPr b="0" i="0" lang="en" sz="11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Agent-powered workflows</a:t>
            </a:r>
            <a:endParaRPr b="0" i="0" sz="11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b56858e97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Before we begin…</a:t>
            </a:r>
            <a:endParaRPr/>
          </a:p>
        </p:txBody>
      </p:sp>
      <p:sp>
        <p:nvSpPr>
          <p:cNvPr id="791" name="Google Shape;791;g3b56858e977_0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2" name="Google Shape;792;g3b56858e97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800" y="1017725"/>
            <a:ext cx="6384824" cy="401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bc085080be_0_0"/>
          <p:cNvSpPr txBox="1"/>
          <p:nvPr>
            <p:ph type="title"/>
          </p:nvPr>
        </p:nvSpPr>
        <p:spPr>
          <a:xfrm>
            <a:off x="311700" y="445025"/>
            <a:ext cx="82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From AI Tools to Agentic Systems: The Shift in Software Development</a:t>
            </a:r>
            <a:endParaRPr b="1"/>
          </a:p>
        </p:txBody>
      </p:sp>
      <p:sp>
        <p:nvSpPr>
          <p:cNvPr id="798" name="Google Shape;798;g3bc085080be_0_0"/>
          <p:cNvSpPr txBox="1"/>
          <p:nvPr>
            <p:ph idx="1" type="body"/>
          </p:nvPr>
        </p:nvSpPr>
        <p:spPr>
          <a:xfrm>
            <a:off x="361950" y="1750800"/>
            <a:ext cx="8308200" cy="26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Agentic AI is shifting software development from </a:t>
            </a:r>
            <a:r>
              <a:rPr b="1" lang="en" sz="1400">
                <a:solidFill>
                  <a:schemeClr val="lt1"/>
                </a:solidFill>
              </a:rPr>
              <a:t>tools that assist developers</a:t>
            </a:r>
            <a:r>
              <a:rPr lang="en" sz="1400">
                <a:solidFill>
                  <a:schemeClr val="lt1"/>
                </a:solidFill>
              </a:rPr>
              <a:t> to </a:t>
            </a:r>
            <a:r>
              <a:rPr b="1" lang="en" sz="1400">
                <a:solidFill>
                  <a:schemeClr val="lt1"/>
                </a:solidFill>
              </a:rPr>
              <a:t>systems that execute goals autonomously</a:t>
            </a:r>
            <a:r>
              <a:rPr lang="en" sz="1400">
                <a:solidFill>
                  <a:schemeClr val="lt1"/>
                </a:solidFill>
              </a:rPr>
              <a:t>.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Instead of responding to single prompts, agents plan, decide, act, observe outcomes, and iterate.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b="1" lang="en" sz="1400">
                <a:solidFill>
                  <a:schemeClr val="accent1"/>
                </a:solidFill>
              </a:rPr>
              <a:t>The Shift Driven by Agentic AI:</a:t>
            </a:r>
            <a:endParaRPr b="1" sz="1400">
              <a:solidFill>
                <a:schemeClr val="accent1"/>
              </a:solidFill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From static code → adaptive systems</a:t>
            </a:r>
            <a:endParaRPr>
              <a:solidFill>
                <a:schemeClr val="lt1"/>
              </a:solidFill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From function calls → decision-driven workflows</a:t>
            </a:r>
            <a:endParaRPr>
              <a:solidFill>
                <a:schemeClr val="lt1"/>
              </a:solidFill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From manual orchestration → autonomous execution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799" name="Google Shape;799;g3bc085080be_0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33aedb228_0_129"/>
          <p:cNvSpPr txBox="1"/>
          <p:nvPr>
            <p:ph type="title"/>
          </p:nvPr>
        </p:nvSpPr>
        <p:spPr>
          <a:xfrm>
            <a:off x="311700" y="445025"/>
            <a:ext cx="82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From AI Tools to Agentic Systems: The Shift in Software Development</a:t>
            </a:r>
            <a:endParaRPr b="1"/>
          </a:p>
        </p:txBody>
      </p:sp>
      <p:sp>
        <p:nvSpPr>
          <p:cNvPr id="805" name="Google Shape;805;g3c33aedb228_0_129"/>
          <p:cNvSpPr txBox="1"/>
          <p:nvPr>
            <p:ph idx="1" type="body"/>
          </p:nvPr>
        </p:nvSpPr>
        <p:spPr>
          <a:xfrm>
            <a:off x="361950" y="1750800"/>
            <a:ext cx="4312500" cy="26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accent1"/>
                </a:solidFill>
              </a:rPr>
              <a:t>The Entire SDLC Is Turning Into an AI-Driven Pipeline</a:t>
            </a:r>
            <a:endParaRPr b="1" sz="17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AI plans requirements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Builds multi-file features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Runs tests automatically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Deploys &amp; monitors continuously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806" name="Google Shape;806;g3c33aedb228_0_129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7" name="Google Shape;807;g3c33aedb228_0_129"/>
          <p:cNvPicPr preferRelativeResize="0"/>
          <p:nvPr/>
        </p:nvPicPr>
        <p:blipFill rotWithShape="1">
          <a:blip r:embed="rId3">
            <a:alphaModFix/>
          </a:blip>
          <a:srcRect b="8183" l="17129" r="16938" t="7364"/>
          <a:stretch/>
        </p:blipFill>
        <p:spPr>
          <a:xfrm>
            <a:off x="4113125" y="1440850"/>
            <a:ext cx="4531975" cy="30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c085080be_0_9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3" name="Google Shape;813;g3bc085080be_0_9"/>
          <p:cNvSpPr txBox="1"/>
          <p:nvPr/>
        </p:nvSpPr>
        <p:spPr>
          <a:xfrm>
            <a:off x="457200" y="3739500"/>
            <a:ext cx="82383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With execution responsibility delegated to agents, the focus shifts to what they can automate.</a:t>
            </a:r>
            <a:endParaRPr b="0" i="0" sz="1400" u="none" cap="none" strike="noStrike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14" name="Google Shape;814;g3bc085080be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91150"/>
            <a:ext cx="8839204" cy="21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bc085080be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What Kind of AI Automations Are We Looking At?</a:t>
            </a:r>
            <a:endParaRPr b="1"/>
          </a:p>
        </p:txBody>
      </p:sp>
      <p:sp>
        <p:nvSpPr>
          <p:cNvPr id="820" name="Google Shape;820;g3bc085080be_0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GitHub Copilot agent mode</a:t>
            </a:r>
            <a:r>
              <a:rPr lang="en" sz="1400">
                <a:solidFill>
                  <a:schemeClr val="lt1"/>
                </a:solidFill>
              </a:rPr>
              <a:t> that writes code autonomously, detects errors in real time, runs tests, and creates pull requests for review.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821" name="Google Shape;821;g3bc085080be_0_2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2" name="Google Shape;822;g3bc085080be_0_20"/>
          <p:cNvPicPr preferRelativeResize="0"/>
          <p:nvPr/>
        </p:nvPicPr>
        <p:blipFill rotWithShape="1">
          <a:blip r:embed="rId4">
            <a:alphaModFix/>
          </a:blip>
          <a:srcRect b="1615" l="1509" r="1741" t="2229"/>
          <a:stretch/>
        </p:blipFill>
        <p:spPr>
          <a:xfrm>
            <a:off x="1248425" y="1989150"/>
            <a:ext cx="6000749" cy="28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3245dd107_0_6"/>
          <p:cNvSpPr txBox="1"/>
          <p:nvPr>
            <p:ph idx="1" type="body"/>
          </p:nvPr>
        </p:nvSpPr>
        <p:spPr>
          <a:xfrm>
            <a:off x="311700" y="350700"/>
            <a:ext cx="8520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Google Antigravity IDE</a:t>
            </a:r>
            <a:r>
              <a:rPr lang="en" sz="1400">
                <a:solidFill>
                  <a:schemeClr val="lt1"/>
                </a:solidFill>
              </a:rPr>
              <a:t> where multiple AI agents work in the editor and terminal to build apps, test code, and manage workflows inside a development environment.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828" name="Google Shape;828;g3c3245dd107_0_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9" name="Google Shape;829;g3c3245dd107_0_6"/>
          <p:cNvPicPr preferRelativeResize="0"/>
          <p:nvPr/>
        </p:nvPicPr>
        <p:blipFill rotWithShape="1">
          <a:blip r:embed="rId4">
            <a:alphaModFix/>
          </a:blip>
          <a:srcRect b="0" l="0" r="0" t="1047"/>
          <a:stretch/>
        </p:blipFill>
        <p:spPr>
          <a:xfrm>
            <a:off x="1516875" y="1090300"/>
            <a:ext cx="5956226" cy="37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3eb8b9ece_0_5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5" name="Google Shape;835;g3c3eb8b9ece_0_52"/>
          <p:cNvSpPr txBox="1"/>
          <p:nvPr/>
        </p:nvSpPr>
        <p:spPr>
          <a:xfrm>
            <a:off x="457200" y="1650550"/>
            <a:ext cx="81789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" sz="32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Before we dive into Agents, let’s take a quick look at what this course will cover.</a:t>
            </a:r>
            <a:endParaRPr b="1" i="0" sz="32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c3ee2dae1b_2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g3c3ee2dae1b_2_0"/>
          <p:cNvSpPr txBox="1"/>
          <p:nvPr>
            <p:ph type="title"/>
          </p:nvPr>
        </p:nvSpPr>
        <p:spPr>
          <a:xfrm>
            <a:off x="255575" y="157325"/>
            <a:ext cx="82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/>
              <a:t>Agentic AI Program Structure</a:t>
            </a:r>
            <a:endParaRPr b="1" sz="2000"/>
          </a:p>
        </p:txBody>
      </p:sp>
      <p:pic>
        <p:nvPicPr>
          <p:cNvPr id="842" name="Google Shape;842;g3c3ee2dae1b_2_0" title="SWEs_Roadmap_new.png"/>
          <p:cNvPicPr preferRelativeResize="0"/>
          <p:nvPr/>
        </p:nvPicPr>
        <p:blipFill rotWithShape="1">
          <a:blip r:embed="rId3">
            <a:alphaModFix/>
          </a:blip>
          <a:srcRect b="0" l="748" r="758" t="0"/>
          <a:stretch/>
        </p:blipFill>
        <p:spPr>
          <a:xfrm>
            <a:off x="489250" y="730025"/>
            <a:ext cx="8155103" cy="410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f6e85787fe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Curriculum &amp; Upcoming Topics</a:t>
            </a:r>
            <a:endParaRPr/>
          </a:p>
        </p:txBody>
      </p:sp>
      <p:sp>
        <p:nvSpPr>
          <p:cNvPr id="848" name="Google Shape;848;g3f6e85787fe_0_0"/>
          <p:cNvSpPr txBox="1"/>
          <p:nvPr>
            <p:ph idx="1" type="body"/>
          </p:nvPr>
        </p:nvSpPr>
        <p:spPr>
          <a:xfrm>
            <a:off x="311700" y="1152475"/>
            <a:ext cx="804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the detailed topic list for the upcoming weeks, including the key concepts, tools, and hands-on topics that will be covered in each module. This will help you understand the learning journey and prepare in advance.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https://docs.google.com/spreadsheets/d/1jnKR9t1CrOH91LmKndOmzvoCXRGNc1OOD9hb4ZfA_z8/edit?gid=0#gid=0</a:t>
            </a:r>
            <a:endParaRPr/>
          </a:p>
        </p:txBody>
      </p:sp>
      <p:sp>
        <p:nvSpPr>
          <p:cNvPr id="849" name="Google Shape;849;g3f6e85787fe_0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bbc6fc060_0_0"/>
          <p:cNvSpPr txBox="1"/>
          <p:nvPr/>
        </p:nvSpPr>
        <p:spPr>
          <a:xfrm>
            <a:off x="614925" y="1323656"/>
            <a:ext cx="7999200" cy="3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Char char="●"/>
            </a:pPr>
            <a:r>
              <a:rPr b="0" i="0" lang="en" sz="1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Build and deploy agents</a:t>
            </a:r>
            <a:r>
              <a:rPr b="0" i="0" lang="en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from simple agents to multi-agent systems</a:t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Char char="●"/>
            </a:pPr>
            <a:r>
              <a:rPr b="0" i="0" lang="en" sz="1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Design agentic systems</a:t>
            </a:r>
            <a:r>
              <a:rPr b="0" i="0" lang="en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with real-world constraints and tradeoffs</a:t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Char char="●"/>
            </a:pPr>
            <a:r>
              <a:rPr b="0" i="0" lang="en" sz="1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Integrate agents</a:t>
            </a:r>
            <a:r>
              <a:rPr b="0" i="0" lang="en" sz="1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into your existing tools and workflows</a:t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Char char="●"/>
            </a:pPr>
            <a:r>
              <a:rPr b="0" i="0" lang="en" sz="1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Ship production-ready agents</a:t>
            </a:r>
            <a:r>
              <a:rPr b="0" i="0" lang="en" sz="1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with observability &amp; evaluation</a:t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Char char="●"/>
            </a:pPr>
            <a:r>
              <a:rPr b="0" i="0" lang="en" sz="1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Fine-tune and tailor</a:t>
            </a:r>
            <a:r>
              <a:rPr b="0" i="0" lang="en" sz="1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agentic systems for complex, domain-specific tasks</a:t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5" name="Google Shape;855;g3cbbc6fc060_0_0"/>
          <p:cNvSpPr txBox="1"/>
          <p:nvPr/>
        </p:nvSpPr>
        <p:spPr>
          <a:xfrm>
            <a:off x="389963" y="444960"/>
            <a:ext cx="82242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31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By</a:t>
            </a:r>
            <a:r>
              <a:rPr b="0" i="0" lang="en" sz="26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1" i="0" lang="en" sz="31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the end of this course, you will be able to: </a:t>
            </a:r>
            <a:endParaRPr b="0" i="0" sz="2900" u="none" cap="none" strike="noStrike">
              <a:solidFill>
                <a:srgbClr val="3996D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bc085080be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/>
              <a:t>What You’ve Been Doing So Far: LLMs &amp; Functions</a:t>
            </a:r>
            <a:endParaRPr b="1" sz="2900"/>
          </a:p>
        </p:txBody>
      </p:sp>
      <p:sp>
        <p:nvSpPr>
          <p:cNvPr id="861" name="Google Shape;861;g3bc085080be_0_57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2" name="Google Shape;862;g3bc085080be_0_57"/>
          <p:cNvSpPr txBox="1"/>
          <p:nvPr/>
        </p:nvSpPr>
        <p:spPr>
          <a:xfrm>
            <a:off x="402100" y="1328400"/>
            <a:ext cx="8343600" cy="26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The Shift Toward Agentic Systems</a:t>
            </a:r>
            <a:endParaRPr b="0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●"/>
            </a:pPr>
            <a:r>
              <a:rPr b="1" i="0" lang="en" sz="13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The Hidden Shift:</a:t>
            </a:r>
            <a:endParaRPr b="1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○"/>
            </a:pPr>
            <a:r>
              <a:rPr b="0" i="0" lang="en" sz="13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LLMs + functions = daily workflow integration</a:t>
            </a:r>
            <a:endParaRPr b="0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○"/>
            </a:pPr>
            <a:r>
              <a:rPr b="0" i="0" lang="en" sz="13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Intelligence + execution working together</a:t>
            </a:r>
            <a:endParaRPr b="0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○"/>
            </a:pPr>
            <a:r>
              <a:rPr b="0" i="0" lang="en" sz="13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Foundation for agentic systems</a:t>
            </a:r>
            <a:endParaRPr b="0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3" name="Google Shape;863;g3bc085080be_0_57"/>
          <p:cNvSpPr txBox="1"/>
          <p:nvPr/>
        </p:nvSpPr>
        <p:spPr>
          <a:xfrm>
            <a:off x="502625" y="3306900"/>
            <a:ext cx="839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FF00"/>
                </a:solidFill>
                <a:latin typeface="Fira Sans"/>
                <a:ea typeface="Fira Sans"/>
                <a:cs typeface="Fira Sans"/>
                <a:sym typeface="Fira Sans"/>
              </a:rPr>
              <a:t>This shift marks the transition to Agentic AI Systems.</a:t>
            </a:r>
            <a:endParaRPr b="0" i="0" sz="1300" u="none" cap="none" strike="noStrike">
              <a:solidFill>
                <a:srgbClr val="00FF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c3eb8b9ece_0_7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9" name="Google Shape;869;g3c3eb8b9ece_0_72"/>
          <p:cNvSpPr txBox="1"/>
          <p:nvPr/>
        </p:nvSpPr>
        <p:spPr>
          <a:xfrm>
            <a:off x="365025" y="2010750"/>
            <a:ext cx="81789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9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What You’ll be learning today</a:t>
            </a:r>
            <a:endParaRPr b="1" i="0" sz="29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"/>
          <p:cNvSpPr txBox="1"/>
          <p:nvPr>
            <p:ph type="title"/>
          </p:nvPr>
        </p:nvSpPr>
        <p:spPr>
          <a:xfrm>
            <a:off x="242650" y="84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Today’s Agenda</a:t>
            </a:r>
            <a:endParaRPr sz="2700">
              <a:solidFill>
                <a:srgbClr val="3896D2"/>
              </a:solidFill>
            </a:endParaRPr>
          </a:p>
        </p:txBody>
      </p:sp>
      <p:grpSp>
        <p:nvGrpSpPr>
          <p:cNvPr id="875" name="Google Shape;875;p6"/>
          <p:cNvGrpSpPr/>
          <p:nvPr/>
        </p:nvGrpSpPr>
        <p:grpSpPr>
          <a:xfrm>
            <a:off x="6787913" y="1076325"/>
            <a:ext cx="1653075" cy="3657600"/>
            <a:chOff x="6788575" y="1076325"/>
            <a:chExt cx="1653075" cy="3657600"/>
          </a:xfrm>
        </p:grpSpPr>
        <p:sp>
          <p:nvSpPr>
            <p:cNvPr id="876" name="Google Shape;876;p6"/>
            <p:cNvSpPr/>
            <p:nvPr/>
          </p:nvSpPr>
          <p:spPr>
            <a:xfrm>
              <a:off x="6788575" y="1076325"/>
              <a:ext cx="1645200" cy="3301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3A80B6"/>
            </a:solidFill>
            <a:ln>
              <a:noFill/>
            </a:ln>
          </p:spPr>
          <p:txBody>
            <a:bodyPr anchorCtr="0" anchor="t" bIns="91425" lIns="0" spcFirstLastPara="1" rIns="0" wrap="square" tIns="1371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Q &amp; A</a:t>
              </a:r>
              <a:endParaRPr b="1" i="0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7119925" y="1342350"/>
              <a:ext cx="982500" cy="98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Arial"/>
                <a:buNone/>
              </a:pPr>
              <a:r>
                <a:rPr b="0" i="0" lang="en" sz="5000" u="none" cap="none" strike="noStrike">
                  <a:solidFill>
                    <a:srgbClr val="3A80B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b="0" i="0" sz="1400" u="none" cap="none" strike="noStrike">
                <a:solidFill>
                  <a:srgbClr val="3A80B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6796450" y="4485525"/>
              <a:ext cx="1645200" cy="248400"/>
            </a:xfrm>
            <a:prstGeom prst="rect">
              <a:avLst/>
            </a:prstGeom>
            <a:solidFill>
              <a:srgbClr val="3A80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9" name="Google Shape;879;p6"/>
            <p:cNvGrpSpPr/>
            <p:nvPr/>
          </p:nvGrpSpPr>
          <p:grpSpPr>
            <a:xfrm>
              <a:off x="7336859" y="2789275"/>
              <a:ext cx="548633" cy="548633"/>
              <a:chOff x="-48633175" y="2711375"/>
              <a:chExt cx="299325" cy="299325"/>
            </a:xfrm>
          </p:grpSpPr>
          <p:sp>
            <p:nvSpPr>
              <p:cNvPr id="880" name="Google Shape;880;p6"/>
              <p:cNvSpPr/>
              <p:nvPr/>
            </p:nvSpPr>
            <p:spPr>
              <a:xfrm>
                <a:off x="-48633175" y="2711375"/>
                <a:ext cx="299325" cy="299325"/>
              </a:xfrm>
              <a:custGeom>
                <a:rect b="b" l="l" r="r" t="t"/>
                <a:pathLst>
                  <a:path extrusionOk="0" h="11973" w="11973">
                    <a:moveTo>
                      <a:pt x="6459" y="662"/>
                    </a:moveTo>
                    <a:lnTo>
                      <a:pt x="6774" y="1356"/>
                    </a:lnTo>
                    <a:cubicBezTo>
                      <a:pt x="6837" y="1419"/>
                      <a:pt x="6900" y="1513"/>
                      <a:pt x="7026" y="1545"/>
                    </a:cubicBezTo>
                    <a:cubicBezTo>
                      <a:pt x="7499" y="1671"/>
                      <a:pt x="7971" y="1860"/>
                      <a:pt x="8413" y="2080"/>
                    </a:cubicBezTo>
                    <a:cubicBezTo>
                      <a:pt x="8459" y="2126"/>
                      <a:pt x="8539" y="2156"/>
                      <a:pt x="8627" y="2156"/>
                    </a:cubicBezTo>
                    <a:cubicBezTo>
                      <a:pt x="8660" y="2156"/>
                      <a:pt x="8694" y="2152"/>
                      <a:pt x="8728" y="2143"/>
                    </a:cubicBezTo>
                    <a:lnTo>
                      <a:pt x="9389" y="1891"/>
                    </a:lnTo>
                    <a:lnTo>
                      <a:pt x="10051" y="2553"/>
                    </a:lnTo>
                    <a:lnTo>
                      <a:pt x="9799" y="3214"/>
                    </a:lnTo>
                    <a:cubicBezTo>
                      <a:pt x="9767" y="3340"/>
                      <a:pt x="9767" y="3435"/>
                      <a:pt x="9862" y="3561"/>
                    </a:cubicBezTo>
                    <a:cubicBezTo>
                      <a:pt x="10114" y="3970"/>
                      <a:pt x="10334" y="4412"/>
                      <a:pt x="10397" y="4916"/>
                    </a:cubicBezTo>
                    <a:cubicBezTo>
                      <a:pt x="10460" y="5042"/>
                      <a:pt x="10492" y="5136"/>
                      <a:pt x="10586" y="5168"/>
                    </a:cubicBezTo>
                    <a:lnTo>
                      <a:pt x="11279" y="5483"/>
                    </a:lnTo>
                    <a:lnTo>
                      <a:pt x="11279" y="6459"/>
                    </a:lnTo>
                    <a:lnTo>
                      <a:pt x="10586" y="6774"/>
                    </a:lnTo>
                    <a:cubicBezTo>
                      <a:pt x="10523" y="6806"/>
                      <a:pt x="10460" y="6900"/>
                      <a:pt x="10397" y="7026"/>
                    </a:cubicBezTo>
                    <a:cubicBezTo>
                      <a:pt x="10271" y="7499"/>
                      <a:pt x="10082" y="7972"/>
                      <a:pt x="9862" y="8381"/>
                    </a:cubicBezTo>
                    <a:cubicBezTo>
                      <a:pt x="9799" y="8476"/>
                      <a:pt x="9767" y="8602"/>
                      <a:pt x="9799" y="8696"/>
                    </a:cubicBezTo>
                    <a:lnTo>
                      <a:pt x="10051" y="9389"/>
                    </a:lnTo>
                    <a:lnTo>
                      <a:pt x="9389" y="10051"/>
                    </a:lnTo>
                    <a:lnTo>
                      <a:pt x="8728" y="9799"/>
                    </a:lnTo>
                    <a:cubicBezTo>
                      <a:pt x="8681" y="9787"/>
                      <a:pt x="8640" y="9780"/>
                      <a:pt x="8600" y="9780"/>
                    </a:cubicBezTo>
                    <a:cubicBezTo>
                      <a:pt x="8532" y="9780"/>
                      <a:pt x="8472" y="9802"/>
                      <a:pt x="8413" y="9862"/>
                    </a:cubicBezTo>
                    <a:cubicBezTo>
                      <a:pt x="7971" y="10114"/>
                      <a:pt x="7530" y="10303"/>
                      <a:pt x="7026" y="10397"/>
                    </a:cubicBezTo>
                    <a:cubicBezTo>
                      <a:pt x="6900" y="10429"/>
                      <a:pt x="6837" y="10492"/>
                      <a:pt x="6774" y="10586"/>
                    </a:cubicBezTo>
                    <a:lnTo>
                      <a:pt x="6459" y="11280"/>
                    </a:lnTo>
                    <a:lnTo>
                      <a:pt x="5483" y="11280"/>
                    </a:lnTo>
                    <a:lnTo>
                      <a:pt x="5168" y="10586"/>
                    </a:lnTo>
                    <a:cubicBezTo>
                      <a:pt x="5136" y="10523"/>
                      <a:pt x="5042" y="10429"/>
                      <a:pt x="4915" y="10397"/>
                    </a:cubicBezTo>
                    <a:cubicBezTo>
                      <a:pt x="4443" y="10271"/>
                      <a:pt x="3970" y="10082"/>
                      <a:pt x="3561" y="9862"/>
                    </a:cubicBezTo>
                    <a:cubicBezTo>
                      <a:pt x="3492" y="9816"/>
                      <a:pt x="3406" y="9786"/>
                      <a:pt x="3327" y="9786"/>
                    </a:cubicBezTo>
                    <a:cubicBezTo>
                      <a:pt x="3299" y="9786"/>
                      <a:pt x="3271" y="9790"/>
                      <a:pt x="3246" y="9799"/>
                    </a:cubicBezTo>
                    <a:lnTo>
                      <a:pt x="2553" y="10051"/>
                    </a:lnTo>
                    <a:lnTo>
                      <a:pt x="1891" y="9389"/>
                    </a:lnTo>
                    <a:lnTo>
                      <a:pt x="2143" y="8696"/>
                    </a:lnTo>
                    <a:cubicBezTo>
                      <a:pt x="2175" y="8602"/>
                      <a:pt x="2175" y="8507"/>
                      <a:pt x="2080" y="8381"/>
                    </a:cubicBezTo>
                    <a:cubicBezTo>
                      <a:pt x="1828" y="7972"/>
                      <a:pt x="1607" y="7531"/>
                      <a:pt x="1544" y="7026"/>
                    </a:cubicBezTo>
                    <a:cubicBezTo>
                      <a:pt x="1513" y="6900"/>
                      <a:pt x="1450" y="6806"/>
                      <a:pt x="1355" y="6774"/>
                    </a:cubicBezTo>
                    <a:lnTo>
                      <a:pt x="662" y="6459"/>
                    </a:lnTo>
                    <a:lnTo>
                      <a:pt x="662" y="5483"/>
                    </a:lnTo>
                    <a:lnTo>
                      <a:pt x="1355" y="5168"/>
                    </a:lnTo>
                    <a:cubicBezTo>
                      <a:pt x="1418" y="5136"/>
                      <a:pt x="1513" y="5042"/>
                      <a:pt x="1544" y="4916"/>
                    </a:cubicBezTo>
                    <a:cubicBezTo>
                      <a:pt x="1670" y="4443"/>
                      <a:pt x="1860" y="3970"/>
                      <a:pt x="2080" y="3561"/>
                    </a:cubicBezTo>
                    <a:cubicBezTo>
                      <a:pt x="2143" y="3466"/>
                      <a:pt x="2175" y="3340"/>
                      <a:pt x="2143" y="3214"/>
                    </a:cubicBezTo>
                    <a:lnTo>
                      <a:pt x="1891" y="2553"/>
                    </a:lnTo>
                    <a:lnTo>
                      <a:pt x="2553" y="1891"/>
                    </a:lnTo>
                    <a:lnTo>
                      <a:pt x="3246" y="2143"/>
                    </a:lnTo>
                    <a:cubicBezTo>
                      <a:pt x="3280" y="2155"/>
                      <a:pt x="3315" y="2162"/>
                      <a:pt x="3351" y="2162"/>
                    </a:cubicBezTo>
                    <a:cubicBezTo>
                      <a:pt x="3414" y="2162"/>
                      <a:pt x="3481" y="2140"/>
                      <a:pt x="3561" y="2080"/>
                    </a:cubicBezTo>
                    <a:cubicBezTo>
                      <a:pt x="3970" y="1828"/>
                      <a:pt x="4411" y="1608"/>
                      <a:pt x="4915" y="1545"/>
                    </a:cubicBezTo>
                    <a:cubicBezTo>
                      <a:pt x="5042" y="1513"/>
                      <a:pt x="5136" y="1450"/>
                      <a:pt x="5168" y="1356"/>
                    </a:cubicBezTo>
                    <a:lnTo>
                      <a:pt x="5483" y="662"/>
                    </a:lnTo>
                    <a:close/>
                    <a:moveTo>
                      <a:pt x="5294" y="1"/>
                    </a:moveTo>
                    <a:cubicBezTo>
                      <a:pt x="5168" y="1"/>
                      <a:pt x="5010" y="64"/>
                      <a:pt x="4978" y="190"/>
                    </a:cubicBezTo>
                    <a:lnTo>
                      <a:pt x="4632" y="915"/>
                    </a:lnTo>
                    <a:cubicBezTo>
                      <a:pt x="4191" y="1041"/>
                      <a:pt x="3750" y="1198"/>
                      <a:pt x="3372" y="1419"/>
                    </a:cubicBezTo>
                    <a:lnTo>
                      <a:pt x="2616" y="1198"/>
                    </a:lnTo>
                    <a:cubicBezTo>
                      <a:pt x="2579" y="1180"/>
                      <a:pt x="2539" y="1172"/>
                      <a:pt x="2500" y="1172"/>
                    </a:cubicBezTo>
                    <a:cubicBezTo>
                      <a:pt x="2405" y="1172"/>
                      <a:pt x="2314" y="1217"/>
                      <a:pt x="2269" y="1261"/>
                    </a:cubicBezTo>
                    <a:lnTo>
                      <a:pt x="1261" y="2238"/>
                    </a:lnTo>
                    <a:cubicBezTo>
                      <a:pt x="1198" y="2332"/>
                      <a:pt x="1166" y="2490"/>
                      <a:pt x="1198" y="2616"/>
                    </a:cubicBezTo>
                    <a:lnTo>
                      <a:pt x="1418" y="3340"/>
                    </a:lnTo>
                    <a:cubicBezTo>
                      <a:pt x="1198" y="3750"/>
                      <a:pt x="1040" y="4191"/>
                      <a:pt x="914" y="4601"/>
                    </a:cubicBezTo>
                    <a:lnTo>
                      <a:pt x="221" y="4979"/>
                    </a:lnTo>
                    <a:cubicBezTo>
                      <a:pt x="95" y="5010"/>
                      <a:pt x="1" y="5168"/>
                      <a:pt x="1" y="5294"/>
                    </a:cubicBezTo>
                    <a:lnTo>
                      <a:pt x="1" y="6711"/>
                    </a:lnTo>
                    <a:cubicBezTo>
                      <a:pt x="1" y="6806"/>
                      <a:pt x="95" y="6963"/>
                      <a:pt x="221" y="7026"/>
                    </a:cubicBezTo>
                    <a:lnTo>
                      <a:pt x="914" y="7373"/>
                    </a:lnTo>
                    <a:cubicBezTo>
                      <a:pt x="1040" y="7814"/>
                      <a:pt x="1198" y="8224"/>
                      <a:pt x="1418" y="8633"/>
                    </a:cubicBezTo>
                    <a:lnTo>
                      <a:pt x="1198" y="9389"/>
                    </a:lnTo>
                    <a:cubicBezTo>
                      <a:pt x="1166" y="9484"/>
                      <a:pt x="1198" y="9641"/>
                      <a:pt x="1261" y="9736"/>
                    </a:cubicBezTo>
                    <a:lnTo>
                      <a:pt x="2269" y="10712"/>
                    </a:lnTo>
                    <a:cubicBezTo>
                      <a:pt x="2316" y="10783"/>
                      <a:pt x="2417" y="10819"/>
                      <a:pt x="2517" y="10819"/>
                    </a:cubicBezTo>
                    <a:cubicBezTo>
                      <a:pt x="2551" y="10819"/>
                      <a:pt x="2584" y="10815"/>
                      <a:pt x="2616" y="10807"/>
                    </a:cubicBezTo>
                    <a:lnTo>
                      <a:pt x="3372" y="10555"/>
                    </a:lnTo>
                    <a:cubicBezTo>
                      <a:pt x="3750" y="10807"/>
                      <a:pt x="4191" y="10965"/>
                      <a:pt x="4632" y="11059"/>
                    </a:cubicBezTo>
                    <a:lnTo>
                      <a:pt x="4978" y="11784"/>
                    </a:lnTo>
                    <a:cubicBezTo>
                      <a:pt x="5010" y="11910"/>
                      <a:pt x="5168" y="11973"/>
                      <a:pt x="5294" y="11973"/>
                    </a:cubicBezTo>
                    <a:lnTo>
                      <a:pt x="6711" y="11973"/>
                    </a:lnTo>
                    <a:cubicBezTo>
                      <a:pt x="6837" y="11973"/>
                      <a:pt x="6995" y="11910"/>
                      <a:pt x="7026" y="11784"/>
                    </a:cubicBezTo>
                    <a:lnTo>
                      <a:pt x="7373" y="11059"/>
                    </a:lnTo>
                    <a:cubicBezTo>
                      <a:pt x="7814" y="10965"/>
                      <a:pt x="8255" y="10807"/>
                      <a:pt x="8633" y="10555"/>
                    </a:cubicBezTo>
                    <a:lnTo>
                      <a:pt x="9389" y="10807"/>
                    </a:lnTo>
                    <a:cubicBezTo>
                      <a:pt x="9421" y="10815"/>
                      <a:pt x="9454" y="10819"/>
                      <a:pt x="9488" y="10819"/>
                    </a:cubicBezTo>
                    <a:cubicBezTo>
                      <a:pt x="9588" y="10819"/>
                      <a:pt x="9688" y="10783"/>
                      <a:pt x="9736" y="10712"/>
                    </a:cubicBezTo>
                    <a:lnTo>
                      <a:pt x="10712" y="9736"/>
                    </a:lnTo>
                    <a:cubicBezTo>
                      <a:pt x="10807" y="9641"/>
                      <a:pt x="10838" y="9484"/>
                      <a:pt x="10807" y="9389"/>
                    </a:cubicBezTo>
                    <a:lnTo>
                      <a:pt x="10555" y="8633"/>
                    </a:lnTo>
                    <a:cubicBezTo>
                      <a:pt x="10807" y="8224"/>
                      <a:pt x="10964" y="7814"/>
                      <a:pt x="11059" y="7373"/>
                    </a:cubicBezTo>
                    <a:lnTo>
                      <a:pt x="11784" y="7026"/>
                    </a:lnTo>
                    <a:cubicBezTo>
                      <a:pt x="11910" y="6963"/>
                      <a:pt x="11973" y="6806"/>
                      <a:pt x="11973" y="6711"/>
                    </a:cubicBezTo>
                    <a:lnTo>
                      <a:pt x="11973" y="5294"/>
                    </a:lnTo>
                    <a:cubicBezTo>
                      <a:pt x="11973" y="5168"/>
                      <a:pt x="11910" y="5042"/>
                      <a:pt x="11784" y="4979"/>
                    </a:cubicBezTo>
                    <a:lnTo>
                      <a:pt x="11059" y="4601"/>
                    </a:lnTo>
                    <a:cubicBezTo>
                      <a:pt x="10964" y="4191"/>
                      <a:pt x="10807" y="3750"/>
                      <a:pt x="10555" y="3340"/>
                    </a:cubicBezTo>
                    <a:lnTo>
                      <a:pt x="10807" y="2616"/>
                    </a:lnTo>
                    <a:cubicBezTo>
                      <a:pt x="10838" y="2490"/>
                      <a:pt x="10807" y="2332"/>
                      <a:pt x="10712" y="2238"/>
                    </a:cubicBezTo>
                    <a:lnTo>
                      <a:pt x="9736" y="1261"/>
                    </a:lnTo>
                    <a:cubicBezTo>
                      <a:pt x="9691" y="1217"/>
                      <a:pt x="9584" y="1172"/>
                      <a:pt x="9491" y="1172"/>
                    </a:cubicBezTo>
                    <a:cubicBezTo>
                      <a:pt x="9453" y="1172"/>
                      <a:pt x="9417" y="1180"/>
                      <a:pt x="9389" y="1198"/>
                    </a:cubicBezTo>
                    <a:lnTo>
                      <a:pt x="8633" y="1419"/>
                    </a:lnTo>
                    <a:cubicBezTo>
                      <a:pt x="8255" y="1198"/>
                      <a:pt x="7814" y="1041"/>
                      <a:pt x="7373" y="915"/>
                    </a:cubicBezTo>
                    <a:lnTo>
                      <a:pt x="7026" y="190"/>
                    </a:lnTo>
                    <a:cubicBezTo>
                      <a:pt x="6995" y="64"/>
                      <a:pt x="6837" y="1"/>
                      <a:pt x="67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6"/>
              <p:cNvSpPr/>
              <p:nvPr/>
            </p:nvSpPr>
            <p:spPr>
              <a:xfrm>
                <a:off x="-48579600" y="2764950"/>
                <a:ext cx="192975" cy="191400"/>
              </a:xfrm>
              <a:custGeom>
                <a:rect b="b" l="l" r="r" t="t"/>
                <a:pathLst>
                  <a:path extrusionOk="0" h="7656" w="7719">
                    <a:moveTo>
                      <a:pt x="3844" y="3214"/>
                    </a:moveTo>
                    <a:lnTo>
                      <a:pt x="4442" y="4411"/>
                    </a:lnTo>
                    <a:cubicBezTo>
                      <a:pt x="4237" y="4490"/>
                      <a:pt x="4033" y="4529"/>
                      <a:pt x="3832" y="4529"/>
                    </a:cubicBezTo>
                    <a:cubicBezTo>
                      <a:pt x="3631" y="4529"/>
                      <a:pt x="3434" y="4490"/>
                      <a:pt x="3245" y="4411"/>
                    </a:cubicBezTo>
                    <a:lnTo>
                      <a:pt x="3844" y="3214"/>
                    </a:lnTo>
                    <a:close/>
                    <a:moveTo>
                      <a:pt x="3781" y="693"/>
                    </a:moveTo>
                    <a:cubicBezTo>
                      <a:pt x="5513" y="693"/>
                      <a:pt x="6931" y="2111"/>
                      <a:pt x="6931" y="3844"/>
                    </a:cubicBezTo>
                    <a:cubicBezTo>
                      <a:pt x="6994" y="5104"/>
                      <a:pt x="6301" y="6175"/>
                      <a:pt x="5230" y="6679"/>
                    </a:cubicBezTo>
                    <a:lnTo>
                      <a:pt x="5230" y="4568"/>
                    </a:lnTo>
                    <a:cubicBezTo>
                      <a:pt x="5230" y="4411"/>
                      <a:pt x="5230" y="4442"/>
                      <a:pt x="4127" y="2300"/>
                    </a:cubicBezTo>
                    <a:cubicBezTo>
                      <a:pt x="4033" y="2206"/>
                      <a:pt x="3938" y="2111"/>
                      <a:pt x="3812" y="2111"/>
                    </a:cubicBezTo>
                    <a:cubicBezTo>
                      <a:pt x="3686" y="2111"/>
                      <a:pt x="3560" y="2206"/>
                      <a:pt x="3497" y="2300"/>
                    </a:cubicBezTo>
                    <a:cubicBezTo>
                      <a:pt x="2363" y="4600"/>
                      <a:pt x="2394" y="4442"/>
                      <a:pt x="2394" y="4568"/>
                    </a:cubicBezTo>
                    <a:lnTo>
                      <a:pt x="2394" y="6679"/>
                    </a:lnTo>
                    <a:cubicBezTo>
                      <a:pt x="1355" y="6175"/>
                      <a:pt x="630" y="5104"/>
                      <a:pt x="630" y="3844"/>
                    </a:cubicBezTo>
                    <a:cubicBezTo>
                      <a:pt x="630" y="2111"/>
                      <a:pt x="2048" y="693"/>
                      <a:pt x="3781" y="693"/>
                    </a:cubicBezTo>
                    <a:close/>
                    <a:moveTo>
                      <a:pt x="4568" y="5104"/>
                    </a:moveTo>
                    <a:lnTo>
                      <a:pt x="4568" y="6931"/>
                    </a:lnTo>
                    <a:cubicBezTo>
                      <a:pt x="4316" y="6963"/>
                      <a:pt x="4096" y="6994"/>
                      <a:pt x="3844" y="6994"/>
                    </a:cubicBezTo>
                    <a:cubicBezTo>
                      <a:pt x="3623" y="6994"/>
                      <a:pt x="3371" y="6994"/>
                      <a:pt x="3151" y="6931"/>
                    </a:cubicBezTo>
                    <a:lnTo>
                      <a:pt x="3151" y="5104"/>
                    </a:lnTo>
                    <a:cubicBezTo>
                      <a:pt x="3371" y="5198"/>
                      <a:pt x="3623" y="5230"/>
                      <a:pt x="3844" y="5230"/>
                    </a:cubicBezTo>
                    <a:cubicBezTo>
                      <a:pt x="4096" y="5230"/>
                      <a:pt x="4316" y="5198"/>
                      <a:pt x="4568" y="5104"/>
                    </a:cubicBezTo>
                    <a:close/>
                    <a:moveTo>
                      <a:pt x="3844" y="0"/>
                    </a:moveTo>
                    <a:cubicBezTo>
                      <a:pt x="1733" y="0"/>
                      <a:pt x="0" y="1733"/>
                      <a:pt x="0" y="3844"/>
                    </a:cubicBezTo>
                    <a:cubicBezTo>
                      <a:pt x="0" y="5577"/>
                      <a:pt x="1134" y="7026"/>
                      <a:pt x="2678" y="7498"/>
                    </a:cubicBezTo>
                    <a:lnTo>
                      <a:pt x="2709" y="7498"/>
                    </a:lnTo>
                    <a:cubicBezTo>
                      <a:pt x="3056" y="7624"/>
                      <a:pt x="3466" y="7656"/>
                      <a:pt x="3844" y="7656"/>
                    </a:cubicBezTo>
                    <a:cubicBezTo>
                      <a:pt x="4253" y="7656"/>
                      <a:pt x="4631" y="7593"/>
                      <a:pt x="4978" y="7498"/>
                    </a:cubicBezTo>
                    <a:lnTo>
                      <a:pt x="5041" y="7498"/>
                    </a:lnTo>
                    <a:cubicBezTo>
                      <a:pt x="6616" y="6994"/>
                      <a:pt x="7719" y="5545"/>
                      <a:pt x="7719" y="3844"/>
                    </a:cubicBezTo>
                    <a:cubicBezTo>
                      <a:pt x="7719" y="1733"/>
                      <a:pt x="5986" y="0"/>
                      <a:pt x="38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82" name="Google Shape;882;p6"/>
          <p:cNvGrpSpPr/>
          <p:nvPr/>
        </p:nvGrpSpPr>
        <p:grpSpPr>
          <a:xfrm>
            <a:off x="703013" y="1076325"/>
            <a:ext cx="1649125" cy="3657600"/>
            <a:chOff x="703675" y="1076325"/>
            <a:chExt cx="1649125" cy="3657600"/>
          </a:xfrm>
        </p:grpSpPr>
        <p:sp>
          <p:nvSpPr>
            <p:cNvPr id="883" name="Google Shape;883;p6"/>
            <p:cNvSpPr/>
            <p:nvPr/>
          </p:nvSpPr>
          <p:spPr>
            <a:xfrm>
              <a:off x="707600" y="1076325"/>
              <a:ext cx="1645200" cy="3301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BB831"/>
            </a:solidFill>
            <a:ln>
              <a:noFill/>
            </a:ln>
          </p:spPr>
          <p:txBody>
            <a:bodyPr anchorCtr="0" anchor="t" bIns="91425" lIns="0" spcFirstLastPara="1" rIns="0" wrap="square" tIns="1371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Introduction to Gen AI and LLMs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1038950" y="1342350"/>
              <a:ext cx="982500" cy="98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Arial"/>
                <a:buNone/>
              </a:pPr>
              <a:r>
                <a:rPr b="0" i="0" lang="en" sz="5000" u="none" cap="none" strike="noStrike">
                  <a:solidFill>
                    <a:srgbClr val="D1CC6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b="0" i="0" sz="1400" u="none" cap="none" strike="noStrike">
                <a:solidFill>
                  <a:srgbClr val="D1CC6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703675" y="4485525"/>
              <a:ext cx="1645200" cy="248400"/>
            </a:xfrm>
            <a:prstGeom prst="rect">
              <a:avLst/>
            </a:prstGeom>
            <a:solidFill>
              <a:srgbClr val="FBB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" name="Google Shape;886;p6"/>
            <p:cNvGrpSpPr/>
            <p:nvPr/>
          </p:nvGrpSpPr>
          <p:grpSpPr>
            <a:xfrm>
              <a:off x="1251957" y="2789276"/>
              <a:ext cx="548631" cy="548631"/>
              <a:chOff x="-46772025" y="2701925"/>
              <a:chExt cx="300900" cy="300900"/>
            </a:xfrm>
          </p:grpSpPr>
          <p:sp>
            <p:nvSpPr>
              <p:cNvPr id="887" name="Google Shape;887;p6"/>
              <p:cNvSpPr/>
              <p:nvPr/>
            </p:nvSpPr>
            <p:spPr>
              <a:xfrm>
                <a:off x="-46647575" y="2826375"/>
                <a:ext cx="53575" cy="53575"/>
              </a:xfrm>
              <a:custGeom>
                <a:rect b="b" l="l" r="r" t="t"/>
                <a:pathLst>
                  <a:path extrusionOk="0" h="2143" w="2143">
                    <a:moveTo>
                      <a:pt x="1072" y="694"/>
                    </a:moveTo>
                    <a:cubicBezTo>
                      <a:pt x="1261" y="694"/>
                      <a:pt x="1418" y="851"/>
                      <a:pt x="1418" y="1040"/>
                    </a:cubicBezTo>
                    <a:cubicBezTo>
                      <a:pt x="1418" y="1229"/>
                      <a:pt x="1261" y="1387"/>
                      <a:pt x="1072" y="1387"/>
                    </a:cubicBezTo>
                    <a:cubicBezTo>
                      <a:pt x="883" y="1387"/>
                      <a:pt x="725" y="1229"/>
                      <a:pt x="725" y="1040"/>
                    </a:cubicBezTo>
                    <a:cubicBezTo>
                      <a:pt x="725" y="851"/>
                      <a:pt x="883" y="694"/>
                      <a:pt x="1072" y="694"/>
                    </a:cubicBezTo>
                    <a:close/>
                    <a:moveTo>
                      <a:pt x="1072" y="1"/>
                    </a:moveTo>
                    <a:cubicBezTo>
                      <a:pt x="473" y="1"/>
                      <a:pt x="1" y="473"/>
                      <a:pt x="1" y="1072"/>
                    </a:cubicBezTo>
                    <a:cubicBezTo>
                      <a:pt x="1" y="1670"/>
                      <a:pt x="473" y="2143"/>
                      <a:pt x="1072" y="2143"/>
                    </a:cubicBezTo>
                    <a:cubicBezTo>
                      <a:pt x="1670" y="2143"/>
                      <a:pt x="2143" y="1670"/>
                      <a:pt x="2143" y="1072"/>
                    </a:cubicBezTo>
                    <a:cubicBezTo>
                      <a:pt x="2112" y="473"/>
                      <a:pt x="1639" y="1"/>
                      <a:pt x="10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6"/>
              <p:cNvSpPr/>
              <p:nvPr/>
            </p:nvSpPr>
            <p:spPr>
              <a:xfrm>
                <a:off x="-46772025" y="2701925"/>
                <a:ext cx="300900" cy="300900"/>
              </a:xfrm>
              <a:custGeom>
                <a:rect b="b" l="l" r="r" t="t"/>
                <a:pathLst>
                  <a:path extrusionOk="0" h="12036" w="12036">
                    <a:moveTo>
                      <a:pt x="6365" y="1482"/>
                    </a:moveTo>
                    <a:cubicBezTo>
                      <a:pt x="8602" y="1639"/>
                      <a:pt x="10429" y="3466"/>
                      <a:pt x="10587" y="5672"/>
                    </a:cubicBezTo>
                    <a:lnTo>
                      <a:pt x="9862" y="5672"/>
                    </a:lnTo>
                    <a:cubicBezTo>
                      <a:pt x="9704" y="3813"/>
                      <a:pt x="8224" y="2301"/>
                      <a:pt x="6365" y="2143"/>
                    </a:cubicBezTo>
                    <a:lnTo>
                      <a:pt x="6365" y="1482"/>
                    </a:lnTo>
                    <a:close/>
                    <a:moveTo>
                      <a:pt x="5703" y="1482"/>
                    </a:moveTo>
                    <a:lnTo>
                      <a:pt x="5703" y="2206"/>
                    </a:lnTo>
                    <a:cubicBezTo>
                      <a:pt x="3845" y="2364"/>
                      <a:pt x="2364" y="3844"/>
                      <a:pt x="2206" y="5703"/>
                    </a:cubicBezTo>
                    <a:lnTo>
                      <a:pt x="1482" y="5703"/>
                    </a:lnTo>
                    <a:cubicBezTo>
                      <a:pt x="1639" y="3466"/>
                      <a:pt x="3466" y="1639"/>
                      <a:pt x="5703" y="1482"/>
                    </a:cubicBezTo>
                    <a:close/>
                    <a:moveTo>
                      <a:pt x="6365" y="2868"/>
                    </a:moveTo>
                    <a:cubicBezTo>
                      <a:pt x="7814" y="3025"/>
                      <a:pt x="9011" y="4191"/>
                      <a:pt x="9169" y="5672"/>
                    </a:cubicBezTo>
                    <a:lnTo>
                      <a:pt x="8854" y="5672"/>
                    </a:lnTo>
                    <a:cubicBezTo>
                      <a:pt x="8665" y="5672"/>
                      <a:pt x="8507" y="5829"/>
                      <a:pt x="8507" y="6018"/>
                    </a:cubicBezTo>
                    <a:cubicBezTo>
                      <a:pt x="8507" y="6207"/>
                      <a:pt x="8665" y="6365"/>
                      <a:pt x="8854" y="6365"/>
                    </a:cubicBezTo>
                    <a:lnTo>
                      <a:pt x="9169" y="6365"/>
                    </a:lnTo>
                    <a:cubicBezTo>
                      <a:pt x="9011" y="7814"/>
                      <a:pt x="7846" y="9011"/>
                      <a:pt x="6365" y="9169"/>
                    </a:cubicBezTo>
                    <a:lnTo>
                      <a:pt x="6365" y="8854"/>
                    </a:lnTo>
                    <a:cubicBezTo>
                      <a:pt x="6365" y="8665"/>
                      <a:pt x="6207" y="8507"/>
                      <a:pt x="6018" y="8507"/>
                    </a:cubicBezTo>
                    <a:cubicBezTo>
                      <a:pt x="5829" y="8507"/>
                      <a:pt x="5672" y="8665"/>
                      <a:pt x="5672" y="8854"/>
                    </a:cubicBezTo>
                    <a:lnTo>
                      <a:pt x="5672" y="9169"/>
                    </a:lnTo>
                    <a:cubicBezTo>
                      <a:pt x="4223" y="9011"/>
                      <a:pt x="3025" y="7814"/>
                      <a:pt x="2868" y="6365"/>
                    </a:cubicBezTo>
                    <a:lnTo>
                      <a:pt x="3183" y="6365"/>
                    </a:lnTo>
                    <a:cubicBezTo>
                      <a:pt x="3372" y="6365"/>
                      <a:pt x="3529" y="6207"/>
                      <a:pt x="3529" y="6018"/>
                    </a:cubicBezTo>
                    <a:cubicBezTo>
                      <a:pt x="3529" y="5829"/>
                      <a:pt x="3372" y="5672"/>
                      <a:pt x="3183" y="5672"/>
                    </a:cubicBezTo>
                    <a:lnTo>
                      <a:pt x="2868" y="5672"/>
                    </a:lnTo>
                    <a:cubicBezTo>
                      <a:pt x="3025" y="4191"/>
                      <a:pt x="4191" y="3025"/>
                      <a:pt x="5672" y="2868"/>
                    </a:cubicBezTo>
                    <a:lnTo>
                      <a:pt x="5672" y="3183"/>
                    </a:lnTo>
                    <a:cubicBezTo>
                      <a:pt x="5672" y="3372"/>
                      <a:pt x="5829" y="3529"/>
                      <a:pt x="6018" y="3529"/>
                    </a:cubicBezTo>
                    <a:cubicBezTo>
                      <a:pt x="6207" y="3529"/>
                      <a:pt x="6365" y="3372"/>
                      <a:pt x="6365" y="3183"/>
                    </a:cubicBezTo>
                    <a:lnTo>
                      <a:pt x="6365" y="2868"/>
                    </a:lnTo>
                    <a:close/>
                    <a:moveTo>
                      <a:pt x="2206" y="6365"/>
                    </a:moveTo>
                    <a:cubicBezTo>
                      <a:pt x="2364" y="8224"/>
                      <a:pt x="3845" y="9704"/>
                      <a:pt x="5703" y="9862"/>
                    </a:cubicBezTo>
                    <a:lnTo>
                      <a:pt x="5703" y="10586"/>
                    </a:lnTo>
                    <a:cubicBezTo>
                      <a:pt x="3466" y="10429"/>
                      <a:pt x="1639" y="8602"/>
                      <a:pt x="1482" y="6365"/>
                    </a:cubicBezTo>
                    <a:close/>
                    <a:moveTo>
                      <a:pt x="10618" y="6365"/>
                    </a:moveTo>
                    <a:cubicBezTo>
                      <a:pt x="10429" y="8602"/>
                      <a:pt x="8602" y="10429"/>
                      <a:pt x="6396" y="10586"/>
                    </a:cubicBezTo>
                    <a:lnTo>
                      <a:pt x="6396" y="9862"/>
                    </a:lnTo>
                    <a:cubicBezTo>
                      <a:pt x="8255" y="9704"/>
                      <a:pt x="9767" y="8224"/>
                      <a:pt x="9925" y="6365"/>
                    </a:cubicBezTo>
                    <a:close/>
                    <a:moveTo>
                      <a:pt x="6018" y="1"/>
                    </a:moveTo>
                    <a:cubicBezTo>
                      <a:pt x="5829" y="1"/>
                      <a:pt x="5672" y="158"/>
                      <a:pt x="5672" y="347"/>
                    </a:cubicBezTo>
                    <a:lnTo>
                      <a:pt x="5672" y="725"/>
                    </a:lnTo>
                    <a:cubicBezTo>
                      <a:pt x="4412" y="820"/>
                      <a:pt x="3183" y="1356"/>
                      <a:pt x="2269" y="2269"/>
                    </a:cubicBezTo>
                    <a:cubicBezTo>
                      <a:pt x="1387" y="3183"/>
                      <a:pt x="820" y="4348"/>
                      <a:pt x="757" y="5672"/>
                    </a:cubicBezTo>
                    <a:lnTo>
                      <a:pt x="347" y="5672"/>
                    </a:lnTo>
                    <a:cubicBezTo>
                      <a:pt x="158" y="5672"/>
                      <a:pt x="1" y="5829"/>
                      <a:pt x="1" y="6018"/>
                    </a:cubicBezTo>
                    <a:cubicBezTo>
                      <a:pt x="1" y="6207"/>
                      <a:pt x="158" y="6365"/>
                      <a:pt x="347" y="6365"/>
                    </a:cubicBezTo>
                    <a:lnTo>
                      <a:pt x="757" y="6365"/>
                    </a:lnTo>
                    <a:cubicBezTo>
                      <a:pt x="820" y="7625"/>
                      <a:pt x="1387" y="8854"/>
                      <a:pt x="2269" y="9767"/>
                    </a:cubicBezTo>
                    <a:cubicBezTo>
                      <a:pt x="3183" y="10649"/>
                      <a:pt x="4380" y="11217"/>
                      <a:pt x="5672" y="11280"/>
                    </a:cubicBezTo>
                    <a:lnTo>
                      <a:pt x="5672" y="11689"/>
                    </a:lnTo>
                    <a:cubicBezTo>
                      <a:pt x="5672" y="11878"/>
                      <a:pt x="5829" y="12036"/>
                      <a:pt x="6018" y="12036"/>
                    </a:cubicBezTo>
                    <a:cubicBezTo>
                      <a:pt x="6207" y="12036"/>
                      <a:pt x="6365" y="11878"/>
                      <a:pt x="6365" y="11689"/>
                    </a:cubicBezTo>
                    <a:lnTo>
                      <a:pt x="6365" y="11280"/>
                    </a:lnTo>
                    <a:cubicBezTo>
                      <a:pt x="7625" y="11217"/>
                      <a:pt x="8854" y="10649"/>
                      <a:pt x="9767" y="9767"/>
                    </a:cubicBezTo>
                    <a:cubicBezTo>
                      <a:pt x="10681" y="8854"/>
                      <a:pt x="11217" y="7656"/>
                      <a:pt x="11280" y="6365"/>
                    </a:cubicBezTo>
                    <a:lnTo>
                      <a:pt x="11689" y="6365"/>
                    </a:lnTo>
                    <a:cubicBezTo>
                      <a:pt x="11878" y="6365"/>
                      <a:pt x="12036" y="6207"/>
                      <a:pt x="12036" y="6018"/>
                    </a:cubicBezTo>
                    <a:cubicBezTo>
                      <a:pt x="12036" y="5829"/>
                      <a:pt x="11878" y="5672"/>
                      <a:pt x="11689" y="5672"/>
                    </a:cubicBezTo>
                    <a:lnTo>
                      <a:pt x="11280" y="5672"/>
                    </a:lnTo>
                    <a:cubicBezTo>
                      <a:pt x="11217" y="4411"/>
                      <a:pt x="10650" y="3183"/>
                      <a:pt x="9767" y="2269"/>
                    </a:cubicBezTo>
                    <a:cubicBezTo>
                      <a:pt x="8854" y="1356"/>
                      <a:pt x="7688" y="820"/>
                      <a:pt x="6365" y="725"/>
                    </a:cubicBezTo>
                    <a:lnTo>
                      <a:pt x="6365" y="347"/>
                    </a:lnTo>
                    <a:cubicBezTo>
                      <a:pt x="6365" y="158"/>
                      <a:pt x="6207" y="1"/>
                      <a:pt x="60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89" name="Google Shape;889;p6"/>
          <p:cNvGrpSpPr/>
          <p:nvPr/>
        </p:nvGrpSpPr>
        <p:grpSpPr>
          <a:xfrm>
            <a:off x="4760921" y="1076325"/>
            <a:ext cx="1649142" cy="3657600"/>
            <a:chOff x="4761583" y="1076325"/>
            <a:chExt cx="1649142" cy="3657600"/>
          </a:xfrm>
        </p:grpSpPr>
        <p:sp>
          <p:nvSpPr>
            <p:cNvPr id="890" name="Google Shape;890;p6"/>
            <p:cNvSpPr/>
            <p:nvPr/>
          </p:nvSpPr>
          <p:spPr>
            <a:xfrm>
              <a:off x="4761583" y="1076325"/>
              <a:ext cx="1645200" cy="3301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FC2BA"/>
            </a:solidFill>
            <a:ln>
              <a:noFill/>
            </a:ln>
          </p:spPr>
          <p:txBody>
            <a:bodyPr anchorCtr="0" anchor="t" bIns="91425" lIns="0" spcFirstLastPara="1" rIns="0" wrap="square" tIns="1371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3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LLM-Based Agents</a:t>
              </a:r>
              <a:endParaRPr b="1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5063608" y="1342350"/>
              <a:ext cx="982500" cy="98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Arial"/>
                <a:buNone/>
              </a:pPr>
              <a:r>
                <a:rPr b="0" i="0" lang="en" sz="5000" u="none" cap="none" strike="noStrike">
                  <a:solidFill>
                    <a:srgbClr val="1FC2BA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 b="0" i="0" sz="1400" u="none" cap="none" strike="noStrike">
                <a:solidFill>
                  <a:srgbClr val="1FC2B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4765525" y="4485525"/>
              <a:ext cx="1645200" cy="248400"/>
            </a:xfrm>
            <a:prstGeom prst="rect">
              <a:avLst/>
            </a:prstGeom>
            <a:solidFill>
              <a:srgbClr val="1FC2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5309863" y="2789272"/>
              <a:ext cx="548641" cy="548631"/>
            </a:xfrm>
            <a:custGeom>
              <a:rect b="b" l="l" r="r" t="t"/>
              <a:pathLst>
                <a:path extrusionOk="0" h="12036" w="12068">
                  <a:moveTo>
                    <a:pt x="4222" y="630"/>
                  </a:moveTo>
                  <a:cubicBezTo>
                    <a:pt x="5010" y="630"/>
                    <a:pt x="5640" y="1292"/>
                    <a:pt x="5640" y="2048"/>
                  </a:cubicBezTo>
                  <a:lnTo>
                    <a:pt x="5640" y="9767"/>
                  </a:lnTo>
                  <a:cubicBezTo>
                    <a:pt x="5703" y="10617"/>
                    <a:pt x="5073" y="11311"/>
                    <a:pt x="4285" y="11311"/>
                  </a:cubicBezTo>
                  <a:cubicBezTo>
                    <a:pt x="3498" y="11311"/>
                    <a:pt x="2868" y="10680"/>
                    <a:pt x="2868" y="9893"/>
                  </a:cubicBezTo>
                  <a:lnTo>
                    <a:pt x="2868" y="9830"/>
                  </a:lnTo>
                  <a:cubicBezTo>
                    <a:pt x="3403" y="9767"/>
                    <a:pt x="3907" y="9515"/>
                    <a:pt x="4254" y="9137"/>
                  </a:cubicBezTo>
                  <a:cubicBezTo>
                    <a:pt x="4380" y="9011"/>
                    <a:pt x="4380" y="8790"/>
                    <a:pt x="4254" y="8633"/>
                  </a:cubicBezTo>
                  <a:cubicBezTo>
                    <a:pt x="4191" y="8570"/>
                    <a:pt x="4104" y="8538"/>
                    <a:pt x="4014" y="8538"/>
                  </a:cubicBezTo>
                  <a:cubicBezTo>
                    <a:pt x="3923" y="8538"/>
                    <a:pt x="3829" y="8570"/>
                    <a:pt x="3750" y="8633"/>
                  </a:cubicBezTo>
                  <a:cubicBezTo>
                    <a:pt x="3435" y="8948"/>
                    <a:pt x="2962" y="9137"/>
                    <a:pt x="2490" y="9137"/>
                  </a:cubicBezTo>
                  <a:cubicBezTo>
                    <a:pt x="1513" y="9137"/>
                    <a:pt x="725" y="8349"/>
                    <a:pt x="725" y="7372"/>
                  </a:cubicBezTo>
                  <a:cubicBezTo>
                    <a:pt x="725" y="7057"/>
                    <a:pt x="788" y="6742"/>
                    <a:pt x="946" y="6490"/>
                  </a:cubicBezTo>
                  <a:cubicBezTo>
                    <a:pt x="1387" y="6805"/>
                    <a:pt x="1891" y="6994"/>
                    <a:pt x="2490" y="6994"/>
                  </a:cubicBezTo>
                  <a:cubicBezTo>
                    <a:pt x="2679" y="6994"/>
                    <a:pt x="2836" y="6837"/>
                    <a:pt x="2836" y="6648"/>
                  </a:cubicBezTo>
                  <a:cubicBezTo>
                    <a:pt x="2836" y="6459"/>
                    <a:pt x="2679" y="6301"/>
                    <a:pt x="2490" y="6301"/>
                  </a:cubicBezTo>
                  <a:cubicBezTo>
                    <a:pt x="1513" y="6301"/>
                    <a:pt x="725" y="5514"/>
                    <a:pt x="725" y="4537"/>
                  </a:cubicBezTo>
                  <a:cubicBezTo>
                    <a:pt x="725" y="3623"/>
                    <a:pt x="1387" y="2899"/>
                    <a:pt x="2238" y="2804"/>
                  </a:cubicBezTo>
                  <a:cubicBezTo>
                    <a:pt x="2521" y="3623"/>
                    <a:pt x="3309" y="4159"/>
                    <a:pt x="4222" y="4159"/>
                  </a:cubicBezTo>
                  <a:cubicBezTo>
                    <a:pt x="4411" y="4159"/>
                    <a:pt x="4569" y="4001"/>
                    <a:pt x="4569" y="3812"/>
                  </a:cubicBezTo>
                  <a:cubicBezTo>
                    <a:pt x="4569" y="3623"/>
                    <a:pt x="4411" y="3466"/>
                    <a:pt x="4222" y="3466"/>
                  </a:cubicBezTo>
                  <a:cubicBezTo>
                    <a:pt x="3435" y="3466"/>
                    <a:pt x="2805" y="2836"/>
                    <a:pt x="2805" y="2048"/>
                  </a:cubicBezTo>
                  <a:cubicBezTo>
                    <a:pt x="2805" y="1261"/>
                    <a:pt x="3435" y="630"/>
                    <a:pt x="4222" y="630"/>
                  </a:cubicBezTo>
                  <a:close/>
                  <a:moveTo>
                    <a:pt x="7814" y="788"/>
                  </a:moveTo>
                  <a:cubicBezTo>
                    <a:pt x="8602" y="788"/>
                    <a:pt x="9232" y="1418"/>
                    <a:pt x="9232" y="2206"/>
                  </a:cubicBezTo>
                  <a:cubicBezTo>
                    <a:pt x="9232" y="2993"/>
                    <a:pt x="8602" y="3623"/>
                    <a:pt x="7814" y="3623"/>
                  </a:cubicBezTo>
                  <a:cubicBezTo>
                    <a:pt x="7593" y="3623"/>
                    <a:pt x="7436" y="3781"/>
                    <a:pt x="7436" y="3970"/>
                  </a:cubicBezTo>
                  <a:cubicBezTo>
                    <a:pt x="7436" y="4159"/>
                    <a:pt x="7593" y="4316"/>
                    <a:pt x="7814" y="4316"/>
                  </a:cubicBezTo>
                  <a:cubicBezTo>
                    <a:pt x="8696" y="4316"/>
                    <a:pt x="9484" y="3749"/>
                    <a:pt x="9767" y="2962"/>
                  </a:cubicBezTo>
                  <a:cubicBezTo>
                    <a:pt x="10649" y="3056"/>
                    <a:pt x="11311" y="3812"/>
                    <a:pt x="11311" y="4695"/>
                  </a:cubicBezTo>
                  <a:cubicBezTo>
                    <a:pt x="11311" y="5671"/>
                    <a:pt x="10523" y="6459"/>
                    <a:pt x="9547" y="6459"/>
                  </a:cubicBezTo>
                  <a:cubicBezTo>
                    <a:pt x="9326" y="6459"/>
                    <a:pt x="9169" y="6616"/>
                    <a:pt x="9169" y="6805"/>
                  </a:cubicBezTo>
                  <a:cubicBezTo>
                    <a:pt x="9169" y="6994"/>
                    <a:pt x="9326" y="7152"/>
                    <a:pt x="9547" y="7152"/>
                  </a:cubicBezTo>
                  <a:cubicBezTo>
                    <a:pt x="10114" y="7152"/>
                    <a:pt x="10649" y="6963"/>
                    <a:pt x="11059" y="6648"/>
                  </a:cubicBezTo>
                  <a:cubicBezTo>
                    <a:pt x="11217" y="6931"/>
                    <a:pt x="11311" y="7215"/>
                    <a:pt x="11311" y="7530"/>
                  </a:cubicBezTo>
                  <a:cubicBezTo>
                    <a:pt x="11374" y="8381"/>
                    <a:pt x="10586" y="9168"/>
                    <a:pt x="9610" y="9168"/>
                  </a:cubicBezTo>
                  <a:cubicBezTo>
                    <a:pt x="9137" y="9168"/>
                    <a:pt x="8696" y="8979"/>
                    <a:pt x="8350" y="8664"/>
                  </a:cubicBezTo>
                  <a:cubicBezTo>
                    <a:pt x="8287" y="8601"/>
                    <a:pt x="8200" y="8570"/>
                    <a:pt x="8109" y="8570"/>
                  </a:cubicBezTo>
                  <a:cubicBezTo>
                    <a:pt x="8019" y="8570"/>
                    <a:pt x="7924" y="8601"/>
                    <a:pt x="7845" y="8664"/>
                  </a:cubicBezTo>
                  <a:cubicBezTo>
                    <a:pt x="7719" y="8790"/>
                    <a:pt x="7719" y="9011"/>
                    <a:pt x="7845" y="9168"/>
                  </a:cubicBezTo>
                  <a:cubicBezTo>
                    <a:pt x="8224" y="9578"/>
                    <a:pt x="8696" y="9798"/>
                    <a:pt x="9232" y="9893"/>
                  </a:cubicBezTo>
                  <a:lnTo>
                    <a:pt x="9232" y="9924"/>
                  </a:lnTo>
                  <a:cubicBezTo>
                    <a:pt x="9232" y="10712"/>
                    <a:pt x="8602" y="11342"/>
                    <a:pt x="7814" y="11342"/>
                  </a:cubicBezTo>
                  <a:cubicBezTo>
                    <a:pt x="7026" y="11342"/>
                    <a:pt x="6396" y="10680"/>
                    <a:pt x="6396" y="9924"/>
                  </a:cubicBezTo>
                  <a:lnTo>
                    <a:pt x="6396" y="2206"/>
                  </a:lnTo>
                  <a:cubicBezTo>
                    <a:pt x="6396" y="1418"/>
                    <a:pt x="7058" y="788"/>
                    <a:pt x="7814" y="788"/>
                  </a:cubicBezTo>
                  <a:close/>
                  <a:moveTo>
                    <a:pt x="4254" y="0"/>
                  </a:moveTo>
                  <a:cubicBezTo>
                    <a:pt x="3088" y="0"/>
                    <a:pt x="2143" y="977"/>
                    <a:pt x="2143" y="2111"/>
                  </a:cubicBezTo>
                  <a:lnTo>
                    <a:pt x="2143" y="2174"/>
                  </a:lnTo>
                  <a:cubicBezTo>
                    <a:pt x="946" y="2332"/>
                    <a:pt x="1" y="3340"/>
                    <a:pt x="1" y="4600"/>
                  </a:cubicBezTo>
                  <a:cubicBezTo>
                    <a:pt x="1" y="5104"/>
                    <a:pt x="158" y="5640"/>
                    <a:pt x="442" y="6018"/>
                  </a:cubicBezTo>
                  <a:cubicBezTo>
                    <a:pt x="158" y="6427"/>
                    <a:pt x="1" y="6931"/>
                    <a:pt x="1" y="7435"/>
                  </a:cubicBezTo>
                  <a:cubicBezTo>
                    <a:pt x="1" y="8696"/>
                    <a:pt x="946" y="9735"/>
                    <a:pt x="2143" y="9861"/>
                  </a:cubicBezTo>
                  <a:lnTo>
                    <a:pt x="2143" y="9924"/>
                  </a:lnTo>
                  <a:cubicBezTo>
                    <a:pt x="2143" y="11090"/>
                    <a:pt x="3088" y="12035"/>
                    <a:pt x="4254" y="12035"/>
                  </a:cubicBezTo>
                  <a:cubicBezTo>
                    <a:pt x="5010" y="12035"/>
                    <a:pt x="5640" y="11657"/>
                    <a:pt x="6050" y="11058"/>
                  </a:cubicBezTo>
                  <a:cubicBezTo>
                    <a:pt x="6428" y="11657"/>
                    <a:pt x="7089" y="12035"/>
                    <a:pt x="7814" y="12035"/>
                  </a:cubicBezTo>
                  <a:cubicBezTo>
                    <a:pt x="8980" y="12035"/>
                    <a:pt x="9925" y="11058"/>
                    <a:pt x="9925" y="9924"/>
                  </a:cubicBezTo>
                  <a:lnTo>
                    <a:pt x="9925" y="9861"/>
                  </a:lnTo>
                  <a:cubicBezTo>
                    <a:pt x="11122" y="9704"/>
                    <a:pt x="12067" y="8696"/>
                    <a:pt x="12067" y="7435"/>
                  </a:cubicBezTo>
                  <a:cubicBezTo>
                    <a:pt x="12067" y="6931"/>
                    <a:pt x="11910" y="6459"/>
                    <a:pt x="11626" y="6018"/>
                  </a:cubicBezTo>
                  <a:cubicBezTo>
                    <a:pt x="11910" y="5577"/>
                    <a:pt x="12067" y="5104"/>
                    <a:pt x="12067" y="4600"/>
                  </a:cubicBezTo>
                  <a:cubicBezTo>
                    <a:pt x="12067" y="3371"/>
                    <a:pt x="11154" y="2363"/>
                    <a:pt x="9925" y="2174"/>
                  </a:cubicBezTo>
                  <a:lnTo>
                    <a:pt x="9925" y="2111"/>
                  </a:lnTo>
                  <a:cubicBezTo>
                    <a:pt x="9925" y="945"/>
                    <a:pt x="8980" y="0"/>
                    <a:pt x="7814" y="0"/>
                  </a:cubicBezTo>
                  <a:cubicBezTo>
                    <a:pt x="7089" y="0"/>
                    <a:pt x="6428" y="378"/>
                    <a:pt x="6050" y="977"/>
                  </a:cubicBezTo>
                  <a:cubicBezTo>
                    <a:pt x="5640" y="378"/>
                    <a:pt x="4979" y="0"/>
                    <a:pt x="4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4" name="Google Shape;894;p6"/>
          <p:cNvGrpSpPr/>
          <p:nvPr/>
        </p:nvGrpSpPr>
        <p:grpSpPr>
          <a:xfrm>
            <a:off x="2733929" y="1076325"/>
            <a:ext cx="1645208" cy="3657600"/>
            <a:chOff x="2734592" y="1076325"/>
            <a:chExt cx="1645208" cy="3657600"/>
          </a:xfrm>
        </p:grpSpPr>
        <p:sp>
          <p:nvSpPr>
            <p:cNvPr id="895" name="Google Shape;895;p6"/>
            <p:cNvSpPr/>
            <p:nvPr/>
          </p:nvSpPr>
          <p:spPr>
            <a:xfrm>
              <a:off x="2734592" y="1076325"/>
              <a:ext cx="1645200" cy="3301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C27BA0"/>
            </a:solidFill>
            <a:ln>
              <a:noFill/>
            </a:ln>
          </p:spPr>
          <p:txBody>
            <a:bodyPr anchorCtr="0" anchor="t" bIns="91425" lIns="0" spcFirstLastPara="1" rIns="0" wrap="square" tIns="1371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Prompt Engineering</a:t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3065942" y="1342350"/>
              <a:ext cx="982500" cy="98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0"/>
                <a:buFont typeface="Arial"/>
                <a:buNone/>
              </a:pPr>
              <a:r>
                <a:rPr b="0" i="0" lang="en" sz="5000" u="none" cap="none" strike="noStrike">
                  <a:solidFill>
                    <a:srgbClr val="8FC03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b="0" i="0" sz="1400" u="none" cap="none" strike="noStrike">
                <a:solidFill>
                  <a:srgbClr val="8FC0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2734600" y="4485525"/>
              <a:ext cx="1645200" cy="248400"/>
            </a:xfrm>
            <a:prstGeom prst="rect">
              <a:avLst/>
            </a:prstGeom>
            <a:solidFill>
              <a:srgbClr val="C27B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8" name="Google Shape;898;p6"/>
            <p:cNvGrpSpPr/>
            <p:nvPr/>
          </p:nvGrpSpPr>
          <p:grpSpPr>
            <a:xfrm>
              <a:off x="3282873" y="2811695"/>
              <a:ext cx="548631" cy="548652"/>
              <a:chOff x="-49786250" y="2328889"/>
              <a:chExt cx="300900" cy="299450"/>
            </a:xfrm>
          </p:grpSpPr>
          <p:sp>
            <p:nvSpPr>
              <p:cNvPr id="899" name="Google Shape;899;p6"/>
              <p:cNvSpPr/>
              <p:nvPr/>
            </p:nvSpPr>
            <p:spPr>
              <a:xfrm>
                <a:off x="-49745291" y="2328889"/>
                <a:ext cx="217400" cy="299450"/>
              </a:xfrm>
              <a:custGeom>
                <a:rect b="b" l="l" r="r" t="t"/>
                <a:pathLst>
                  <a:path extrusionOk="0" h="11978" w="8696">
                    <a:moveTo>
                      <a:pt x="4411" y="3944"/>
                    </a:moveTo>
                    <a:lnTo>
                      <a:pt x="5010" y="5110"/>
                    </a:lnTo>
                    <a:cubicBezTo>
                      <a:pt x="4837" y="5188"/>
                      <a:pt x="4640" y="5228"/>
                      <a:pt x="4439" y="5228"/>
                    </a:cubicBezTo>
                    <a:cubicBezTo>
                      <a:pt x="4238" y="5228"/>
                      <a:pt x="4033" y="5188"/>
                      <a:pt x="3844" y="5110"/>
                    </a:cubicBezTo>
                    <a:lnTo>
                      <a:pt x="4411" y="3944"/>
                    </a:lnTo>
                    <a:close/>
                    <a:moveTo>
                      <a:pt x="5136" y="5834"/>
                    </a:moveTo>
                    <a:lnTo>
                      <a:pt x="5136" y="8418"/>
                    </a:lnTo>
                    <a:lnTo>
                      <a:pt x="3718" y="8418"/>
                    </a:lnTo>
                    <a:lnTo>
                      <a:pt x="3718" y="5834"/>
                    </a:lnTo>
                    <a:cubicBezTo>
                      <a:pt x="3939" y="5897"/>
                      <a:pt x="4191" y="5960"/>
                      <a:pt x="4411" y="5960"/>
                    </a:cubicBezTo>
                    <a:cubicBezTo>
                      <a:pt x="4663" y="5960"/>
                      <a:pt x="4884" y="5897"/>
                      <a:pt x="5136" y="5834"/>
                    </a:cubicBezTo>
                    <a:close/>
                    <a:moveTo>
                      <a:pt x="4390" y="657"/>
                    </a:moveTo>
                    <a:cubicBezTo>
                      <a:pt x="5196" y="657"/>
                      <a:pt x="5982" y="942"/>
                      <a:pt x="6617" y="1455"/>
                    </a:cubicBezTo>
                    <a:cubicBezTo>
                      <a:pt x="7467" y="2117"/>
                      <a:pt x="7940" y="3156"/>
                      <a:pt x="7940" y="4196"/>
                    </a:cubicBezTo>
                    <a:cubicBezTo>
                      <a:pt x="7940" y="5078"/>
                      <a:pt x="7625" y="5897"/>
                      <a:pt x="7058" y="6527"/>
                    </a:cubicBezTo>
                    <a:cubicBezTo>
                      <a:pt x="6585" y="7095"/>
                      <a:pt x="6270" y="7756"/>
                      <a:pt x="6207" y="8418"/>
                    </a:cubicBezTo>
                    <a:lnTo>
                      <a:pt x="5829" y="8418"/>
                    </a:lnTo>
                    <a:lnTo>
                      <a:pt x="5829" y="5267"/>
                    </a:lnTo>
                    <a:cubicBezTo>
                      <a:pt x="5829" y="5236"/>
                      <a:pt x="5829" y="5141"/>
                      <a:pt x="5798" y="5110"/>
                    </a:cubicBezTo>
                    <a:lnTo>
                      <a:pt x="4726" y="2999"/>
                    </a:lnTo>
                    <a:cubicBezTo>
                      <a:pt x="4663" y="2873"/>
                      <a:pt x="4537" y="2778"/>
                      <a:pt x="4411" y="2778"/>
                    </a:cubicBezTo>
                    <a:cubicBezTo>
                      <a:pt x="4317" y="2778"/>
                      <a:pt x="4191" y="2873"/>
                      <a:pt x="4096" y="2999"/>
                    </a:cubicBezTo>
                    <a:lnTo>
                      <a:pt x="3057" y="5110"/>
                    </a:lnTo>
                    <a:cubicBezTo>
                      <a:pt x="2994" y="5141"/>
                      <a:pt x="2994" y="5236"/>
                      <a:pt x="2994" y="5267"/>
                    </a:cubicBezTo>
                    <a:lnTo>
                      <a:pt x="2994" y="8418"/>
                    </a:lnTo>
                    <a:lnTo>
                      <a:pt x="2647" y="8418"/>
                    </a:lnTo>
                    <a:cubicBezTo>
                      <a:pt x="2584" y="7756"/>
                      <a:pt x="2301" y="7095"/>
                      <a:pt x="1796" y="6527"/>
                    </a:cubicBezTo>
                    <a:cubicBezTo>
                      <a:pt x="1040" y="5708"/>
                      <a:pt x="757" y="4574"/>
                      <a:pt x="1009" y="3408"/>
                    </a:cubicBezTo>
                    <a:cubicBezTo>
                      <a:pt x="1261" y="2085"/>
                      <a:pt x="2332" y="1014"/>
                      <a:pt x="3687" y="731"/>
                    </a:cubicBezTo>
                    <a:cubicBezTo>
                      <a:pt x="3921" y="681"/>
                      <a:pt x="4156" y="657"/>
                      <a:pt x="4390" y="657"/>
                    </a:cubicBezTo>
                    <a:close/>
                    <a:moveTo>
                      <a:pt x="6207" y="9142"/>
                    </a:moveTo>
                    <a:lnTo>
                      <a:pt x="6207" y="9489"/>
                    </a:lnTo>
                    <a:cubicBezTo>
                      <a:pt x="6207" y="9678"/>
                      <a:pt x="6050" y="9835"/>
                      <a:pt x="5829" y="9835"/>
                    </a:cubicBezTo>
                    <a:lnTo>
                      <a:pt x="3057" y="9835"/>
                    </a:lnTo>
                    <a:cubicBezTo>
                      <a:pt x="2836" y="9835"/>
                      <a:pt x="2679" y="9678"/>
                      <a:pt x="2679" y="9489"/>
                    </a:cubicBezTo>
                    <a:lnTo>
                      <a:pt x="2679" y="9142"/>
                    </a:lnTo>
                    <a:close/>
                    <a:moveTo>
                      <a:pt x="5483" y="10529"/>
                    </a:moveTo>
                    <a:lnTo>
                      <a:pt x="5483" y="10907"/>
                    </a:lnTo>
                    <a:cubicBezTo>
                      <a:pt x="5483" y="11096"/>
                      <a:pt x="5325" y="11253"/>
                      <a:pt x="5136" y="11253"/>
                    </a:cubicBezTo>
                    <a:lnTo>
                      <a:pt x="3718" y="11253"/>
                    </a:lnTo>
                    <a:cubicBezTo>
                      <a:pt x="3529" y="11253"/>
                      <a:pt x="3372" y="11096"/>
                      <a:pt x="3372" y="10907"/>
                    </a:cubicBezTo>
                    <a:lnTo>
                      <a:pt x="3372" y="10529"/>
                    </a:lnTo>
                    <a:close/>
                    <a:moveTo>
                      <a:pt x="4318" y="0"/>
                    </a:moveTo>
                    <a:cubicBezTo>
                      <a:pt x="4056" y="0"/>
                      <a:pt x="3792" y="23"/>
                      <a:pt x="3529" y="69"/>
                    </a:cubicBezTo>
                    <a:cubicBezTo>
                      <a:pt x="1954" y="384"/>
                      <a:pt x="631" y="1707"/>
                      <a:pt x="284" y="3314"/>
                    </a:cubicBezTo>
                    <a:cubicBezTo>
                      <a:pt x="1" y="4637"/>
                      <a:pt x="379" y="6023"/>
                      <a:pt x="1261" y="7000"/>
                    </a:cubicBezTo>
                    <a:cubicBezTo>
                      <a:pt x="1702" y="7536"/>
                      <a:pt x="1986" y="8166"/>
                      <a:pt x="1986" y="8796"/>
                    </a:cubicBezTo>
                    <a:lnTo>
                      <a:pt x="1986" y="9489"/>
                    </a:lnTo>
                    <a:cubicBezTo>
                      <a:pt x="1986" y="9961"/>
                      <a:pt x="2269" y="10371"/>
                      <a:pt x="2679" y="10466"/>
                    </a:cubicBezTo>
                    <a:lnTo>
                      <a:pt x="2679" y="10907"/>
                    </a:lnTo>
                    <a:cubicBezTo>
                      <a:pt x="2679" y="11505"/>
                      <a:pt x="3151" y="11978"/>
                      <a:pt x="3750" y="11978"/>
                    </a:cubicBezTo>
                    <a:lnTo>
                      <a:pt x="5168" y="11978"/>
                    </a:lnTo>
                    <a:cubicBezTo>
                      <a:pt x="5766" y="11978"/>
                      <a:pt x="6239" y="11505"/>
                      <a:pt x="6239" y="10907"/>
                    </a:cubicBezTo>
                    <a:lnTo>
                      <a:pt x="6239" y="10466"/>
                    </a:lnTo>
                    <a:cubicBezTo>
                      <a:pt x="6617" y="10308"/>
                      <a:pt x="6963" y="9930"/>
                      <a:pt x="6963" y="9489"/>
                    </a:cubicBezTo>
                    <a:lnTo>
                      <a:pt x="6963" y="8796"/>
                    </a:lnTo>
                    <a:cubicBezTo>
                      <a:pt x="6963" y="8166"/>
                      <a:pt x="7184" y="7536"/>
                      <a:pt x="7656" y="6969"/>
                    </a:cubicBezTo>
                    <a:cubicBezTo>
                      <a:pt x="8318" y="6212"/>
                      <a:pt x="8696" y="5236"/>
                      <a:pt x="8696" y="4228"/>
                    </a:cubicBezTo>
                    <a:cubicBezTo>
                      <a:pt x="8633" y="2967"/>
                      <a:pt x="8097" y="1739"/>
                      <a:pt x="7058" y="951"/>
                    </a:cubicBezTo>
                    <a:cubicBezTo>
                      <a:pt x="6285" y="328"/>
                      <a:pt x="5314" y="0"/>
                      <a:pt x="43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6"/>
              <p:cNvSpPr/>
              <p:nvPr/>
            </p:nvSpPr>
            <p:spPr>
              <a:xfrm>
                <a:off x="-49786250" y="2422325"/>
                <a:ext cx="36250" cy="17350"/>
              </a:xfrm>
              <a:custGeom>
                <a:rect b="b" l="l" r="r" t="t"/>
                <a:pathLst>
                  <a:path extrusionOk="0" h="694" w="1450">
                    <a:moveTo>
                      <a:pt x="379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79" y="694"/>
                    </a:cubicBezTo>
                    <a:lnTo>
                      <a:pt x="1072" y="694"/>
                    </a:lnTo>
                    <a:cubicBezTo>
                      <a:pt x="1261" y="694"/>
                      <a:pt x="1418" y="536"/>
                      <a:pt x="1418" y="347"/>
                    </a:cubicBezTo>
                    <a:cubicBezTo>
                      <a:pt x="1450" y="127"/>
                      <a:pt x="1261" y="1"/>
                      <a:pt x="10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6"/>
              <p:cNvSpPr/>
              <p:nvPr/>
            </p:nvSpPr>
            <p:spPr>
              <a:xfrm>
                <a:off x="-49783900" y="2362475"/>
                <a:ext cx="31550" cy="30150"/>
              </a:xfrm>
              <a:custGeom>
                <a:rect b="b" l="l" r="r" t="t"/>
                <a:pathLst>
                  <a:path extrusionOk="0" h="1206" w="1262">
                    <a:moveTo>
                      <a:pt x="391" y="0"/>
                    </a:moveTo>
                    <a:cubicBezTo>
                      <a:pt x="300" y="0"/>
                      <a:pt x="206" y="32"/>
                      <a:pt x="127" y="95"/>
                    </a:cubicBezTo>
                    <a:cubicBezTo>
                      <a:pt x="1" y="221"/>
                      <a:pt x="1" y="441"/>
                      <a:pt x="127" y="599"/>
                    </a:cubicBezTo>
                    <a:lnTo>
                      <a:pt x="631" y="1134"/>
                    </a:lnTo>
                    <a:cubicBezTo>
                      <a:pt x="694" y="1182"/>
                      <a:pt x="781" y="1205"/>
                      <a:pt x="871" y="1205"/>
                    </a:cubicBezTo>
                    <a:cubicBezTo>
                      <a:pt x="962" y="1205"/>
                      <a:pt x="1056" y="1182"/>
                      <a:pt x="1135" y="1134"/>
                    </a:cubicBezTo>
                    <a:cubicBezTo>
                      <a:pt x="1261" y="1008"/>
                      <a:pt x="1261" y="756"/>
                      <a:pt x="1135" y="599"/>
                    </a:cubicBezTo>
                    <a:lnTo>
                      <a:pt x="631" y="95"/>
                    </a:lnTo>
                    <a:cubicBezTo>
                      <a:pt x="568" y="32"/>
                      <a:pt x="481" y="0"/>
                      <a:pt x="3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6"/>
              <p:cNvSpPr/>
              <p:nvPr/>
            </p:nvSpPr>
            <p:spPr>
              <a:xfrm>
                <a:off x="-49783900" y="2468800"/>
                <a:ext cx="31550" cy="30150"/>
              </a:xfrm>
              <a:custGeom>
                <a:rect b="b" l="l" r="r" t="t"/>
                <a:pathLst>
                  <a:path extrusionOk="0" h="1206" w="1262">
                    <a:moveTo>
                      <a:pt x="871" y="0"/>
                    </a:moveTo>
                    <a:cubicBezTo>
                      <a:pt x="781" y="0"/>
                      <a:pt x="694" y="32"/>
                      <a:pt x="631" y="95"/>
                    </a:cubicBezTo>
                    <a:lnTo>
                      <a:pt x="127" y="599"/>
                    </a:lnTo>
                    <a:cubicBezTo>
                      <a:pt x="1" y="725"/>
                      <a:pt x="1" y="977"/>
                      <a:pt x="127" y="1135"/>
                    </a:cubicBezTo>
                    <a:cubicBezTo>
                      <a:pt x="174" y="1182"/>
                      <a:pt x="261" y="1205"/>
                      <a:pt x="355" y="1205"/>
                    </a:cubicBezTo>
                    <a:cubicBezTo>
                      <a:pt x="450" y="1205"/>
                      <a:pt x="552" y="1182"/>
                      <a:pt x="631" y="1135"/>
                    </a:cubicBezTo>
                    <a:lnTo>
                      <a:pt x="1135" y="599"/>
                    </a:lnTo>
                    <a:cubicBezTo>
                      <a:pt x="1261" y="504"/>
                      <a:pt x="1261" y="252"/>
                      <a:pt x="1135" y="95"/>
                    </a:cubicBezTo>
                    <a:cubicBezTo>
                      <a:pt x="1056" y="32"/>
                      <a:pt x="962" y="0"/>
                      <a:pt x="8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6"/>
              <p:cNvSpPr/>
              <p:nvPr/>
            </p:nvSpPr>
            <p:spPr>
              <a:xfrm>
                <a:off x="-49520825" y="2421550"/>
                <a:ext cx="35475" cy="18125"/>
              </a:xfrm>
              <a:custGeom>
                <a:rect b="b" l="l" r="r" t="t"/>
                <a:pathLst>
                  <a:path extrusionOk="0" h="725" w="1419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072" y="725"/>
                    </a:lnTo>
                    <a:cubicBezTo>
                      <a:pt x="1261" y="725"/>
                      <a:pt x="1418" y="567"/>
                      <a:pt x="1418" y="378"/>
                    </a:cubicBezTo>
                    <a:cubicBezTo>
                      <a:pt x="1418" y="158"/>
                      <a:pt x="1261" y="0"/>
                      <a:pt x="10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6"/>
              <p:cNvSpPr/>
              <p:nvPr/>
            </p:nvSpPr>
            <p:spPr>
              <a:xfrm>
                <a:off x="-49519250" y="2362475"/>
                <a:ext cx="31525" cy="31325"/>
              </a:xfrm>
              <a:custGeom>
                <a:rect b="b" l="l" r="r" t="t"/>
                <a:pathLst>
                  <a:path extrusionOk="0" h="1253" w="1261">
                    <a:moveTo>
                      <a:pt x="906" y="0"/>
                    </a:moveTo>
                    <a:cubicBezTo>
                      <a:pt x="812" y="0"/>
                      <a:pt x="709" y="32"/>
                      <a:pt x="631" y="95"/>
                    </a:cubicBezTo>
                    <a:lnTo>
                      <a:pt x="127" y="599"/>
                    </a:lnTo>
                    <a:cubicBezTo>
                      <a:pt x="1" y="725"/>
                      <a:pt x="1" y="945"/>
                      <a:pt x="127" y="1134"/>
                    </a:cubicBezTo>
                    <a:cubicBezTo>
                      <a:pt x="190" y="1213"/>
                      <a:pt x="276" y="1253"/>
                      <a:pt x="367" y="1253"/>
                    </a:cubicBezTo>
                    <a:cubicBezTo>
                      <a:pt x="457" y="1253"/>
                      <a:pt x="552" y="1213"/>
                      <a:pt x="631" y="1134"/>
                    </a:cubicBezTo>
                    <a:lnTo>
                      <a:pt x="1135" y="599"/>
                    </a:lnTo>
                    <a:cubicBezTo>
                      <a:pt x="1261" y="473"/>
                      <a:pt x="1261" y="252"/>
                      <a:pt x="1135" y="95"/>
                    </a:cubicBezTo>
                    <a:cubicBezTo>
                      <a:pt x="1088" y="32"/>
                      <a:pt x="1001" y="0"/>
                      <a:pt x="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6"/>
              <p:cNvSpPr/>
              <p:nvPr/>
            </p:nvSpPr>
            <p:spPr>
              <a:xfrm>
                <a:off x="-49519250" y="2468800"/>
                <a:ext cx="31525" cy="30150"/>
              </a:xfrm>
              <a:custGeom>
                <a:rect b="b" l="l" r="r" t="t"/>
                <a:pathLst>
                  <a:path extrusionOk="0" h="1206" w="1261">
                    <a:moveTo>
                      <a:pt x="391" y="0"/>
                    </a:moveTo>
                    <a:cubicBezTo>
                      <a:pt x="300" y="0"/>
                      <a:pt x="205" y="32"/>
                      <a:pt x="127" y="95"/>
                    </a:cubicBezTo>
                    <a:cubicBezTo>
                      <a:pt x="1" y="221"/>
                      <a:pt x="1" y="441"/>
                      <a:pt x="127" y="599"/>
                    </a:cubicBezTo>
                    <a:lnTo>
                      <a:pt x="631" y="1135"/>
                    </a:lnTo>
                    <a:cubicBezTo>
                      <a:pt x="694" y="1182"/>
                      <a:pt x="780" y="1205"/>
                      <a:pt x="871" y="1205"/>
                    </a:cubicBezTo>
                    <a:cubicBezTo>
                      <a:pt x="962" y="1205"/>
                      <a:pt x="1056" y="1182"/>
                      <a:pt x="1135" y="1135"/>
                    </a:cubicBezTo>
                    <a:cubicBezTo>
                      <a:pt x="1261" y="1009"/>
                      <a:pt x="1261" y="756"/>
                      <a:pt x="1135" y="599"/>
                    </a:cubicBezTo>
                    <a:lnTo>
                      <a:pt x="631" y="95"/>
                    </a:lnTo>
                    <a:cubicBezTo>
                      <a:pt x="568" y="32"/>
                      <a:pt x="481" y="0"/>
                      <a:pt x="3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906" name="Google Shape;906;p6"/>
          <p:cNvCxnSpPr/>
          <p:nvPr/>
        </p:nvCxnSpPr>
        <p:spPr>
          <a:xfrm>
            <a:off x="2551525" y="1307225"/>
            <a:ext cx="22500" cy="364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907" name="Google Shape;907;p6"/>
          <p:cNvCxnSpPr/>
          <p:nvPr/>
        </p:nvCxnSpPr>
        <p:spPr>
          <a:xfrm>
            <a:off x="4595450" y="1295975"/>
            <a:ext cx="51300" cy="373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908" name="Google Shape;908;p6"/>
          <p:cNvCxnSpPr/>
          <p:nvPr/>
        </p:nvCxnSpPr>
        <p:spPr>
          <a:xfrm>
            <a:off x="6572000" y="1239825"/>
            <a:ext cx="49500" cy="369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09" name="Google Shape;909;p6"/>
          <p:cNvSpPr txBox="1"/>
          <p:nvPr>
            <p:ph idx="1" type="body"/>
          </p:nvPr>
        </p:nvSpPr>
        <p:spPr>
          <a:xfrm>
            <a:off x="2088625" y="759013"/>
            <a:ext cx="948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Break</a:t>
            </a:r>
            <a:endParaRPr/>
          </a:p>
        </p:txBody>
      </p:sp>
      <p:sp>
        <p:nvSpPr>
          <p:cNvPr id="910" name="Google Shape;910;p6"/>
          <p:cNvSpPr txBox="1"/>
          <p:nvPr>
            <p:ph idx="1" type="body"/>
          </p:nvPr>
        </p:nvSpPr>
        <p:spPr>
          <a:xfrm>
            <a:off x="4095888" y="753375"/>
            <a:ext cx="948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Break</a:t>
            </a:r>
            <a:endParaRPr/>
          </a:p>
        </p:txBody>
      </p:sp>
      <p:sp>
        <p:nvSpPr>
          <p:cNvPr id="911" name="Google Shape;911;p6"/>
          <p:cNvSpPr txBox="1"/>
          <p:nvPr>
            <p:ph idx="1" type="body"/>
          </p:nvPr>
        </p:nvSpPr>
        <p:spPr>
          <a:xfrm>
            <a:off x="6056363" y="725313"/>
            <a:ext cx="948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Break</a:t>
            </a:r>
            <a:endParaRPr/>
          </a:p>
        </p:txBody>
      </p:sp>
      <p:sp>
        <p:nvSpPr>
          <p:cNvPr id="912" name="Google Shape;912;p6"/>
          <p:cNvSpPr txBox="1"/>
          <p:nvPr>
            <p:ph idx="1" type="body"/>
          </p:nvPr>
        </p:nvSpPr>
        <p:spPr>
          <a:xfrm>
            <a:off x="1053438" y="494776"/>
            <a:ext cx="948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/>
              <a:t>⭐</a:t>
            </a:r>
            <a:endParaRPr sz="3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4158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bbc6fc060_0_954"/>
          <p:cNvSpPr txBox="1"/>
          <p:nvPr>
            <p:ph type="title"/>
          </p:nvPr>
        </p:nvSpPr>
        <p:spPr>
          <a:xfrm>
            <a:off x="1789088" y="2218950"/>
            <a:ext cx="5565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4000"/>
              <a:t>Now, let’s get started</a:t>
            </a:r>
            <a:endParaRPr b="1" sz="4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4156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bbc6fc060_0_95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3" name="Google Shape;923;g3cbbc6fc060_0_958"/>
          <p:cNvSpPr txBox="1"/>
          <p:nvPr>
            <p:ph type="title"/>
          </p:nvPr>
        </p:nvSpPr>
        <p:spPr>
          <a:xfrm>
            <a:off x="2178788" y="1861125"/>
            <a:ext cx="4786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3200">
                <a:solidFill>
                  <a:schemeClr val="accent4"/>
                </a:solidFill>
              </a:rPr>
              <a:t>Generative AI (Gen AI)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924" name="Google Shape;924;g3cbbc6fc060_0_958"/>
          <p:cNvSpPr txBox="1"/>
          <p:nvPr/>
        </p:nvSpPr>
        <p:spPr>
          <a:xfrm>
            <a:off x="952988" y="2778075"/>
            <a:ext cx="72381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Generating content with massive AI models</a:t>
            </a:r>
            <a:endParaRPr b="0" i="0" sz="1800" u="none" cap="none" strike="noStrike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cbbc6fc060_0_964"/>
          <p:cNvSpPr txBox="1"/>
          <p:nvPr/>
        </p:nvSpPr>
        <p:spPr>
          <a:xfrm>
            <a:off x="476663" y="1443769"/>
            <a:ext cx="4383000" cy="28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Fira Sans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Creates </a:t>
            </a:r>
            <a:r>
              <a:rPr b="1" i="0" lang="en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new content</a:t>
            </a: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(text, code, </a:t>
            </a:r>
            <a:b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images, audio, video)</a:t>
            </a:r>
            <a:b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1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Fira Sans"/>
              <a:buAutoNum type="arabicPeriod"/>
            </a:pPr>
            <a:r>
              <a:rPr b="1" i="0" lang="en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Understands</a:t>
            </a: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natural language (and multimodal) inputs</a:t>
            </a:r>
            <a:b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1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Fira Sans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Powered by large </a:t>
            </a:r>
            <a:r>
              <a:rPr b="1" i="0" lang="en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foundation models</a:t>
            </a:r>
            <a: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trained on massive datasets</a:t>
            </a:r>
            <a:br>
              <a:rPr b="0" i="0" lang="en" sz="17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7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30" name="Google Shape;930;g3cbbc6fc060_0_9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9756" y="1176497"/>
            <a:ext cx="3500889" cy="3511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e an ilustartion of person thinking with his hand on his face and is in deep thought, can be claymorphism or related not real person need illustration" id="931" name="Google Shape;931;g3cbbc6fc060_0_964"/>
          <p:cNvPicPr preferRelativeResize="0"/>
          <p:nvPr/>
        </p:nvPicPr>
        <p:blipFill rotWithShape="1">
          <a:blip r:embed="rId4">
            <a:alphaModFix/>
          </a:blip>
          <a:srcRect b="17864" l="0" r="0" t="0"/>
          <a:stretch/>
        </p:blipFill>
        <p:spPr>
          <a:xfrm>
            <a:off x="3656867" y="335588"/>
            <a:ext cx="1590537" cy="7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g3cbbc6fc060_0_964"/>
          <p:cNvSpPr txBox="1"/>
          <p:nvPr/>
        </p:nvSpPr>
        <p:spPr>
          <a:xfrm>
            <a:off x="457200" y="444960"/>
            <a:ext cx="82242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40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What is Gen AI?</a:t>
            </a:r>
            <a:endParaRPr b="1" i="0" sz="40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4158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g3cbbc6fc060_0_971" title="Gemini_Generated_Image_r0sucjr0sucjr0su.png"/>
          <p:cNvPicPr preferRelativeResize="0"/>
          <p:nvPr/>
        </p:nvPicPr>
        <p:blipFill rotWithShape="1">
          <a:blip r:embed="rId3">
            <a:alphaModFix/>
          </a:blip>
          <a:srcRect b="0" l="0" r="1951" t="0"/>
          <a:stretch/>
        </p:blipFill>
        <p:spPr>
          <a:xfrm>
            <a:off x="0" y="0"/>
            <a:ext cx="9143998" cy="5329023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g3cbbc6fc060_0_971"/>
          <p:cNvSpPr txBox="1"/>
          <p:nvPr/>
        </p:nvSpPr>
        <p:spPr>
          <a:xfrm>
            <a:off x="516862" y="231150"/>
            <a:ext cx="3498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Use Cases of Gen AI</a:t>
            </a:r>
            <a:endParaRPr b="1" i="0" sz="28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cbbc6fc060_0_976"/>
          <p:cNvSpPr txBox="1"/>
          <p:nvPr/>
        </p:nvSpPr>
        <p:spPr>
          <a:xfrm>
            <a:off x="492750" y="1943775"/>
            <a:ext cx="81585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7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rPr>
              <a:t>Behind most </a:t>
            </a:r>
            <a:r>
              <a:rPr b="1" i="0" lang="en" sz="2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Generative AI</a:t>
            </a:r>
            <a:r>
              <a:rPr b="0" i="0" lang="en" sz="27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rPr>
              <a:t> system is a</a:t>
            </a:r>
            <a:br>
              <a:rPr b="0" i="0" lang="en" sz="35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1" i="0" lang="en" sz="3500" u="none" cap="none" strike="noStrike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Large </a:t>
            </a:r>
            <a:r>
              <a:rPr b="1" i="0" lang="en" sz="3500" u="none" cap="none" strike="noStrike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Language</a:t>
            </a:r>
            <a:r>
              <a:rPr b="1" i="0" lang="en" sz="3500" u="none" cap="none" strike="noStrike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 Model (LLM)</a:t>
            </a:r>
            <a:endParaRPr b="1" i="0" sz="35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cbbc6fc060_0_980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9" name="Google Shape;949;g3cbbc6fc060_0_980"/>
          <p:cNvSpPr txBox="1"/>
          <p:nvPr/>
        </p:nvSpPr>
        <p:spPr>
          <a:xfrm>
            <a:off x="457200" y="3207120"/>
            <a:ext cx="84660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Trained on </a:t>
            </a:r>
            <a:r>
              <a:rPr b="1" i="0" lang="en" sz="14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massive datasets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to learn patterns, meaning, and reasoning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Understand and generate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language and other modalities (text, code, images, audio)</a:t>
            </a:r>
            <a:b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Built on </a:t>
            </a:r>
            <a:r>
              <a:rPr b="1" i="0" lang="en" sz="14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transformer architectures that scale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to billions of parameters and long context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50" name="Google Shape;950;g3cbbc6fc060_0_980" title="Screenshot 2026-01-12 at 2.14.24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7413" y="1367832"/>
            <a:ext cx="3749100" cy="161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51" name="Google Shape;951;g3cbbc6fc060_0_980"/>
          <p:cNvSpPr txBox="1"/>
          <p:nvPr/>
        </p:nvSpPr>
        <p:spPr>
          <a:xfrm>
            <a:off x="457200" y="444960"/>
            <a:ext cx="82242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40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What are LLMs?</a:t>
            </a:r>
            <a:endParaRPr b="1" i="0" sz="40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c48ab72c8e_0_5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9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Calling LLMs via client libs</a:t>
            </a:r>
            <a:endParaRPr b="0" sz="1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57" name="Google Shape;957;g3c48ab72c8e_0_5"/>
          <p:cNvSpPr txBox="1"/>
          <p:nvPr>
            <p:ph idx="12" type="sldNum"/>
          </p:nvPr>
        </p:nvSpPr>
        <p:spPr>
          <a:xfrm>
            <a:off x="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8" name="Google Shape;958;g3c48ab72c8e_0_5"/>
          <p:cNvSpPr txBox="1"/>
          <p:nvPr/>
        </p:nvSpPr>
        <p:spPr>
          <a:xfrm>
            <a:off x="3010825" y="0"/>
            <a:ext cx="61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cbbc6fc060_0_987"/>
          <p:cNvSpPr txBox="1"/>
          <p:nvPr/>
        </p:nvSpPr>
        <p:spPr>
          <a:xfrm>
            <a:off x="922219" y="651938"/>
            <a:ext cx="7444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If </a:t>
            </a:r>
            <a:r>
              <a:rPr b="1" i="1" lang="en" sz="27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LLMs</a:t>
            </a:r>
            <a: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are the </a:t>
            </a:r>
            <a:r>
              <a:rPr b="1" i="0" lang="en" sz="27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engine</a:t>
            </a:r>
            <a: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b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1" i="1" lang="en" sz="2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prompts</a:t>
            </a:r>
            <a: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are how we </a:t>
            </a:r>
            <a:r>
              <a:rPr b="1" i="0" lang="en" sz="27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steer</a:t>
            </a:r>
            <a:r>
              <a:rPr b="0" i="0" lang="en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them.</a:t>
            </a:r>
            <a:endParaRPr b="0" i="0" sz="27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964" name="Google Shape;964;g3cbbc6fc060_0_987"/>
          <p:cNvCxnSpPr>
            <a:stCxn id="965" idx="2"/>
            <a:endCxn id="966" idx="6"/>
          </p:cNvCxnSpPr>
          <p:nvPr/>
        </p:nvCxnSpPr>
        <p:spPr>
          <a:xfrm rot="10800000">
            <a:off x="3372932" y="2831059"/>
            <a:ext cx="2398200" cy="210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965" name="Google Shape;965;g3cbbc6fc060_0_987"/>
          <p:cNvSpPr/>
          <p:nvPr/>
        </p:nvSpPr>
        <p:spPr>
          <a:xfrm>
            <a:off x="5771132" y="2078659"/>
            <a:ext cx="1509000" cy="1509000"/>
          </a:xfrm>
          <a:prstGeom prst="ellipse">
            <a:avLst/>
          </a:prstGeom>
          <a:solidFill>
            <a:srgbClr val="16213E"/>
          </a:solidFill>
          <a:ln cap="flat" cmpd="sng" w="571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7" name="Google Shape;967;g3cbbc6fc060_0_9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6902" y="2387269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cbbc6fc060_0_987"/>
          <p:cNvSpPr/>
          <p:nvPr/>
        </p:nvSpPr>
        <p:spPr>
          <a:xfrm>
            <a:off x="5976872" y="3073069"/>
            <a:ext cx="109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500"/>
              <a:buFont typeface="Trebuchet MS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LLM</a:t>
            </a:r>
            <a:endParaRPr b="0" i="0" sz="16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9" name="Google Shape;969;g3cbbc6fc060_0_987"/>
          <p:cNvSpPr/>
          <p:nvPr/>
        </p:nvSpPr>
        <p:spPr>
          <a:xfrm>
            <a:off x="5839712" y="3724579"/>
            <a:ext cx="137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rgbClr val="B0BEC5"/>
                </a:solidFill>
                <a:latin typeface="Fira Sans"/>
                <a:ea typeface="Fira Sans"/>
                <a:cs typeface="Fira Sans"/>
                <a:sym typeface="Fira Sans"/>
              </a:rPr>
              <a:t>The Engine</a:t>
            </a:r>
            <a:endParaRPr b="0" i="0" sz="11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6" name="Google Shape;966;g3cbbc6fc060_0_987"/>
          <p:cNvSpPr/>
          <p:nvPr/>
        </p:nvSpPr>
        <p:spPr>
          <a:xfrm>
            <a:off x="1864014" y="2076654"/>
            <a:ext cx="1509000" cy="1509000"/>
          </a:xfrm>
          <a:prstGeom prst="ellipse">
            <a:avLst/>
          </a:prstGeom>
          <a:solidFill>
            <a:srgbClr val="16213E"/>
          </a:solidFill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0" name="Google Shape;970;g3cbbc6fc060_0_9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9784" y="2385264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g3cbbc6fc060_0_987"/>
          <p:cNvSpPr/>
          <p:nvPr/>
        </p:nvSpPr>
        <p:spPr>
          <a:xfrm>
            <a:off x="2069754" y="3071064"/>
            <a:ext cx="109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500"/>
              <a:buFont typeface="Trebuchet MS"/>
              <a:buNone/>
            </a:pPr>
            <a:r>
              <a:rPr b="1" i="0" lang="en" sz="16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Prompt</a:t>
            </a:r>
            <a:endParaRPr b="0" i="0" sz="1600" u="none" cap="none" strike="noStrike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2" name="Google Shape;972;g3cbbc6fc060_0_987"/>
          <p:cNvSpPr/>
          <p:nvPr/>
        </p:nvSpPr>
        <p:spPr>
          <a:xfrm>
            <a:off x="1932594" y="3722574"/>
            <a:ext cx="137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rgbClr val="B0BEC5"/>
                </a:solidFill>
                <a:latin typeface="Fira Sans"/>
                <a:ea typeface="Fira Sans"/>
                <a:cs typeface="Fira Sans"/>
                <a:sym typeface="Fira Sans"/>
              </a:rPr>
              <a:t>The Steering</a:t>
            </a:r>
            <a:endParaRPr b="0" i="0" sz="11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bbc6fc060_0_1000"/>
          <p:cNvSpPr txBox="1"/>
          <p:nvPr/>
        </p:nvSpPr>
        <p:spPr>
          <a:xfrm>
            <a:off x="301350" y="1099031"/>
            <a:ext cx="5146500" cy="3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❏"/>
            </a:pPr>
            <a:r>
              <a:rPr b="1" i="0" lang="en" sz="18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Context</a:t>
            </a:r>
            <a:r>
              <a:rPr b="1" i="0" lang="en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1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Set the stage: role, goal, plan etc. </a:t>
            </a:r>
            <a:b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0" lang="en" sz="12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"You are a senior SRE reviewing a post-mortem"</a:t>
            </a:r>
            <a:br>
              <a:rPr b="0" i="0" lang="en" sz="1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540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❏"/>
            </a:pPr>
            <a:r>
              <a:rPr b="1" i="0" lang="en" sz="18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Structure</a:t>
            </a:r>
            <a:r>
              <a:rPr b="1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 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 delimiters, Markdown, or XML-like tags</a:t>
            </a:r>
            <a:b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1" lang="en" sz="12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Use ## Task, ## Input, ## Output headers to organize your prompt</a:t>
            </a:r>
            <a:br>
              <a:rPr b="0" i="1" lang="en" sz="1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540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❏"/>
            </a:pPr>
            <a:r>
              <a:rPr b="1" i="0" lang="en" sz="18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Constraints</a:t>
            </a:r>
            <a:r>
              <a:rPr b="1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 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Output format, tone, edge cases</a:t>
            </a:r>
            <a:b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1" lang="en" sz="12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Respond in JSON. Max 200 words. Use only the data provided.</a:t>
            </a:r>
            <a:br>
              <a:rPr b="0" i="1" lang="en" sz="1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0" i="0" sz="1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540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❏"/>
            </a:pPr>
            <a:r>
              <a:rPr b="1" i="0" lang="en" sz="18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Iterate</a:t>
            </a:r>
            <a:r>
              <a:rPr b="1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Draft, evaluate, review output, refine.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8" name="Google Shape;978;g3cbbc6fc060_0_1000"/>
          <p:cNvSpPr txBox="1"/>
          <p:nvPr>
            <p:ph idx="4294967295" type="title"/>
          </p:nvPr>
        </p:nvSpPr>
        <p:spPr>
          <a:xfrm>
            <a:off x="311700" y="311919"/>
            <a:ext cx="82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Prompt Engineering</a:t>
            </a:r>
            <a:endParaRPr b="1"/>
          </a:p>
        </p:txBody>
      </p:sp>
      <p:sp>
        <p:nvSpPr>
          <p:cNvPr id="979" name="Google Shape;979;g3cbbc6fc060_0_1000"/>
          <p:cNvSpPr/>
          <p:nvPr/>
        </p:nvSpPr>
        <p:spPr>
          <a:xfrm>
            <a:off x="5571113" y="1099031"/>
            <a:ext cx="3251400" cy="3426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## Role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You are a senior SRE reviewing 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a post-mortem.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## Task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Summarize the root cause and 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recommend 3 action items.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## Input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{incident report}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## Constraints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- Max 200 words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- Respond in JSON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- Use only the data provided</a:t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g3cbbc6fc060_0_1006"/>
          <p:cNvGrpSpPr/>
          <p:nvPr/>
        </p:nvGrpSpPr>
        <p:grpSpPr>
          <a:xfrm>
            <a:off x="0" y="0"/>
            <a:ext cx="9143999" cy="5143600"/>
            <a:chOff x="0" y="0"/>
            <a:chExt cx="9143999" cy="5143600"/>
          </a:xfrm>
        </p:grpSpPr>
        <p:pic>
          <p:nvPicPr>
            <p:cNvPr id="985" name="Google Shape;985;g3cbbc6fc060_0_1006"/>
            <p:cNvPicPr preferRelativeResize="0"/>
            <p:nvPr/>
          </p:nvPicPr>
          <p:blipFill rotWithShape="1">
            <a:blip r:embed="rId3">
              <a:alphaModFix/>
            </a:blip>
            <a:srcRect b="5455" l="0" r="0" t="0"/>
            <a:stretch/>
          </p:blipFill>
          <p:spPr>
            <a:xfrm>
              <a:off x="1497276" y="0"/>
              <a:ext cx="764672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g3cbbc6fc060_0_1006"/>
            <p:cNvSpPr/>
            <p:nvPr/>
          </p:nvSpPr>
          <p:spPr>
            <a:xfrm>
              <a:off x="0" y="100"/>
              <a:ext cx="1479600" cy="5143500"/>
            </a:xfrm>
            <a:prstGeom prst="rect">
              <a:avLst/>
            </a:prstGeom>
            <a:solidFill>
              <a:srgbClr val="32415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3996D2"/>
                  </a:solidFill>
                  <a:latin typeface="Fira Sans"/>
                  <a:ea typeface="Fira Sans"/>
                  <a:cs typeface="Fira Sans"/>
                  <a:sym typeface="Fira Sans"/>
                </a:rPr>
                <a:t>T</a:t>
              </a:r>
              <a:endParaRPr b="0" i="0" sz="28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3996D2"/>
                  </a:solidFill>
                  <a:latin typeface="Fira Sans"/>
                  <a:ea typeface="Fira Sans"/>
                  <a:cs typeface="Fira Sans"/>
                  <a:sym typeface="Fira Sans"/>
                </a:rPr>
                <a:t>Y</a:t>
              </a:r>
              <a:endParaRPr b="0" i="0" sz="28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3996D2"/>
                  </a:solidFill>
                  <a:latin typeface="Fira Sans"/>
                  <a:ea typeface="Fira Sans"/>
                  <a:cs typeface="Fira Sans"/>
                  <a:sym typeface="Fira Sans"/>
                </a:rPr>
                <a:t>P</a:t>
              </a:r>
              <a:endParaRPr b="0" i="0" sz="28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3996D2"/>
                  </a:solidFill>
                  <a:latin typeface="Fira Sans"/>
                  <a:ea typeface="Fira Sans"/>
                  <a:cs typeface="Fira Sans"/>
                  <a:sym typeface="Fira Sans"/>
                </a:rPr>
                <a:t>E</a:t>
              </a:r>
              <a:endParaRPr b="0" i="0" sz="28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3996D2"/>
                  </a:solidFill>
                  <a:latin typeface="Fira Sans"/>
                  <a:ea typeface="Fira Sans"/>
                  <a:cs typeface="Fira Sans"/>
                  <a:sym typeface="Fira Sans"/>
                </a:rPr>
                <a:t>S</a:t>
              </a:r>
              <a:endParaRPr b="0" i="0" sz="2800" u="none" cap="none" strike="noStrike">
                <a:solidFill>
                  <a:srgbClr val="3996D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cbbc6fc060_0_1012"/>
          <p:cNvSpPr txBox="1"/>
          <p:nvPr>
            <p:ph idx="12" type="sldNum"/>
          </p:nvPr>
        </p:nvSpPr>
        <p:spPr>
          <a:xfrm>
            <a:off x="-2" y="66144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2" name="Google Shape;992;g3cbbc6fc060_0_1012"/>
          <p:cNvSpPr txBox="1"/>
          <p:nvPr>
            <p:ph type="title"/>
          </p:nvPr>
        </p:nvSpPr>
        <p:spPr>
          <a:xfrm>
            <a:off x="444228" y="166275"/>
            <a:ext cx="6781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>
                <a:solidFill>
                  <a:schemeClr val="accent5"/>
                </a:solidFill>
              </a:rPr>
              <a:t>Limitations of LLMs</a:t>
            </a:r>
            <a:endParaRPr b="1">
              <a:solidFill>
                <a:schemeClr val="accent5"/>
              </a:solidFill>
            </a:endParaRPr>
          </a:p>
        </p:txBody>
      </p:sp>
      <p:grpSp>
        <p:nvGrpSpPr>
          <p:cNvPr id="993" name="Google Shape;993;g3cbbc6fc060_0_1012"/>
          <p:cNvGrpSpPr/>
          <p:nvPr/>
        </p:nvGrpSpPr>
        <p:grpSpPr>
          <a:xfrm>
            <a:off x="537205" y="990624"/>
            <a:ext cx="3960900" cy="1622700"/>
            <a:chOff x="640073" y="1402073"/>
            <a:chExt cx="5281200" cy="2163600"/>
          </a:xfrm>
        </p:grpSpPr>
        <p:sp>
          <p:nvSpPr>
            <p:cNvPr id="994" name="Google Shape;994;g3cbbc6fc060_0_1012"/>
            <p:cNvSpPr/>
            <p:nvPr/>
          </p:nvSpPr>
          <p:spPr>
            <a:xfrm>
              <a:off x="640073" y="1402073"/>
              <a:ext cx="5281200" cy="2163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  <a:effectLst>
              <a:outerShdw blurRad="106051" rotWithShape="0" algn="bl" dir="8100000" dist="26513">
                <a:srgbClr val="000000">
                  <a:alpha val="20000"/>
                </a:srgbClr>
              </a:outerShdw>
            </a:effectLst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cbbc6fc060_0_1012"/>
            <p:cNvSpPr/>
            <p:nvPr/>
          </p:nvSpPr>
          <p:spPr>
            <a:xfrm>
              <a:off x="1021856" y="1631457"/>
              <a:ext cx="763800" cy="763800"/>
            </a:xfrm>
            <a:prstGeom prst="ellipse">
              <a:avLst/>
            </a:prstGeom>
            <a:solidFill>
              <a:srgbClr val="1A1A2E"/>
            </a:solidFill>
            <a:ln cap="flat" cmpd="sng" w="199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996" name="Google Shape;996;g3cbbc6fc060_0_10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022" y="1809622"/>
              <a:ext cx="407236" cy="407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g3cbbc6fc060_0_1012"/>
            <p:cNvSpPr/>
            <p:nvPr/>
          </p:nvSpPr>
          <p:spPr>
            <a:xfrm>
              <a:off x="2039946" y="1758256"/>
              <a:ext cx="34998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57373"/>
                </a:buClr>
                <a:buSzPts val="1700"/>
                <a:buFont typeface="Trebuchet MS"/>
                <a:buNone/>
              </a:pPr>
              <a:r>
                <a:rPr b="1" i="0" lang="en" sz="1700" u="none" cap="none" strike="noStrike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No Fresh Knowledge</a:t>
              </a:r>
              <a:endParaRPr b="0" i="0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98" name="Google Shape;998;g3cbbc6fc060_0_1012"/>
            <p:cNvSpPr/>
            <p:nvPr/>
          </p:nvSpPr>
          <p:spPr>
            <a:xfrm>
              <a:off x="1021856" y="2611054"/>
              <a:ext cx="4517700" cy="7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1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Trained on a snapshot of the world. Can't access your docs, your databases, or what happened today.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9" name="Google Shape;999;g3cbbc6fc060_0_1012"/>
          <p:cNvGrpSpPr/>
          <p:nvPr/>
        </p:nvGrpSpPr>
        <p:grpSpPr>
          <a:xfrm>
            <a:off x="4809614" y="2927810"/>
            <a:ext cx="3960900" cy="1622700"/>
            <a:chOff x="6479694" y="4037848"/>
            <a:chExt cx="5281200" cy="2163600"/>
          </a:xfrm>
        </p:grpSpPr>
        <p:sp>
          <p:nvSpPr>
            <p:cNvPr id="1000" name="Google Shape;1000;g3cbbc6fc060_0_1012"/>
            <p:cNvSpPr/>
            <p:nvPr/>
          </p:nvSpPr>
          <p:spPr>
            <a:xfrm>
              <a:off x="6479694" y="4037848"/>
              <a:ext cx="5281200" cy="2163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  <a:effectLst>
              <a:outerShdw blurRad="106051" rotWithShape="0" algn="bl" dir="8100000" dist="26513">
                <a:srgbClr val="000000">
                  <a:alpha val="20000"/>
                </a:srgbClr>
              </a:outerShdw>
            </a:effectLst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cbbc6fc060_0_1012"/>
            <p:cNvSpPr/>
            <p:nvPr/>
          </p:nvSpPr>
          <p:spPr>
            <a:xfrm>
              <a:off x="6861477" y="4267232"/>
              <a:ext cx="763800" cy="763800"/>
            </a:xfrm>
            <a:prstGeom prst="ellipse">
              <a:avLst/>
            </a:prstGeom>
            <a:solidFill>
              <a:srgbClr val="1A1A2E"/>
            </a:solidFill>
            <a:ln cap="flat" cmpd="sng" w="199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02" name="Google Shape;1002;g3cbbc6fc060_0_10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39643" y="4445397"/>
              <a:ext cx="407236" cy="407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g3cbbc6fc060_0_1012"/>
            <p:cNvSpPr/>
            <p:nvPr/>
          </p:nvSpPr>
          <p:spPr>
            <a:xfrm>
              <a:off x="7879567" y="4394031"/>
              <a:ext cx="34998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57373"/>
                </a:buClr>
                <a:buSzPts val="1700"/>
                <a:buFont typeface="Trebuchet MS"/>
                <a:buNone/>
              </a:pPr>
              <a:r>
                <a:rPr b="1" i="0" lang="en" sz="1700" u="none" cap="none" strike="noStrike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No Memory</a:t>
              </a:r>
              <a:endParaRPr b="0" i="0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04" name="Google Shape;1004;g3cbbc6fc060_0_1012"/>
            <p:cNvSpPr/>
            <p:nvPr/>
          </p:nvSpPr>
          <p:spPr>
            <a:xfrm>
              <a:off x="6861477" y="5246829"/>
              <a:ext cx="4517700" cy="7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1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Every conversation starts from zero. No recall of past interactions or accumulated context.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g3cbbc6fc060_0_1012"/>
          <p:cNvGrpSpPr/>
          <p:nvPr/>
        </p:nvGrpSpPr>
        <p:grpSpPr>
          <a:xfrm>
            <a:off x="537205" y="2927810"/>
            <a:ext cx="3960900" cy="1622700"/>
            <a:chOff x="640073" y="3883666"/>
            <a:chExt cx="5281200" cy="2163600"/>
          </a:xfrm>
        </p:grpSpPr>
        <p:sp>
          <p:nvSpPr>
            <p:cNvPr id="1006" name="Google Shape;1006;g3cbbc6fc060_0_1012"/>
            <p:cNvSpPr/>
            <p:nvPr/>
          </p:nvSpPr>
          <p:spPr>
            <a:xfrm>
              <a:off x="640073" y="3883666"/>
              <a:ext cx="5281200" cy="2163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  <a:effectLst>
              <a:outerShdw blurRad="106051" rotWithShape="0" algn="bl" dir="8100000" dist="26513">
                <a:srgbClr val="000000">
                  <a:alpha val="20000"/>
                </a:srgbClr>
              </a:outerShdw>
            </a:effectLst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cbbc6fc060_0_1012"/>
            <p:cNvSpPr/>
            <p:nvPr/>
          </p:nvSpPr>
          <p:spPr>
            <a:xfrm>
              <a:off x="1021856" y="4113050"/>
              <a:ext cx="763800" cy="763800"/>
            </a:xfrm>
            <a:prstGeom prst="ellipse">
              <a:avLst/>
            </a:prstGeom>
            <a:solidFill>
              <a:srgbClr val="1A1A2E"/>
            </a:solidFill>
            <a:ln cap="flat" cmpd="sng" w="199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08" name="Google Shape;1008;g3cbbc6fc060_0_10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0022" y="4291215"/>
              <a:ext cx="407236" cy="407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g3cbbc6fc060_0_1012"/>
            <p:cNvSpPr/>
            <p:nvPr/>
          </p:nvSpPr>
          <p:spPr>
            <a:xfrm>
              <a:off x="2039946" y="4239849"/>
              <a:ext cx="34998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57373"/>
                </a:buClr>
                <a:buSzPts val="1700"/>
                <a:buFont typeface="Trebuchet MS"/>
                <a:buNone/>
              </a:pPr>
              <a:r>
                <a:rPr b="1" i="0" lang="en" sz="1700" u="none" cap="none" strike="noStrike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No Actions</a:t>
              </a:r>
              <a:endParaRPr b="0" i="0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10" name="Google Shape;1010;g3cbbc6fc060_0_1012"/>
            <p:cNvSpPr/>
            <p:nvPr/>
          </p:nvSpPr>
          <p:spPr>
            <a:xfrm>
              <a:off x="1021856" y="5092647"/>
              <a:ext cx="4517700" cy="7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1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Generates text, not outcomes. Can't call an API, run a query, or update a ticket.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1" name="Google Shape;1011;g3cbbc6fc060_0_1012"/>
          <p:cNvGrpSpPr/>
          <p:nvPr/>
        </p:nvGrpSpPr>
        <p:grpSpPr>
          <a:xfrm>
            <a:off x="4809614" y="990624"/>
            <a:ext cx="3960900" cy="1622700"/>
            <a:chOff x="6303194" y="3883666"/>
            <a:chExt cx="5281200" cy="2163600"/>
          </a:xfrm>
        </p:grpSpPr>
        <p:sp>
          <p:nvSpPr>
            <p:cNvPr id="1012" name="Google Shape;1012;g3cbbc6fc060_0_1012"/>
            <p:cNvSpPr/>
            <p:nvPr/>
          </p:nvSpPr>
          <p:spPr>
            <a:xfrm>
              <a:off x="6303194" y="3883666"/>
              <a:ext cx="5281200" cy="2163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  <a:effectLst>
              <a:outerShdw blurRad="106051" rotWithShape="0" algn="bl" dir="8100000" dist="26513">
                <a:srgbClr val="000000">
                  <a:alpha val="20000"/>
                </a:srgbClr>
              </a:outerShdw>
            </a:effectLst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cbbc6fc060_0_1012"/>
            <p:cNvSpPr/>
            <p:nvPr/>
          </p:nvSpPr>
          <p:spPr>
            <a:xfrm>
              <a:off x="6684977" y="4113050"/>
              <a:ext cx="763800" cy="763800"/>
            </a:xfrm>
            <a:prstGeom prst="ellipse">
              <a:avLst/>
            </a:prstGeom>
            <a:solidFill>
              <a:srgbClr val="1A1A2E"/>
            </a:solidFill>
            <a:ln cap="flat" cmpd="sng" w="199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14" name="Google Shape;1014;g3cbbc6fc060_0_10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63143" y="4291215"/>
              <a:ext cx="407236" cy="407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g3cbbc6fc060_0_1012"/>
            <p:cNvSpPr/>
            <p:nvPr/>
          </p:nvSpPr>
          <p:spPr>
            <a:xfrm>
              <a:off x="7703067" y="4239849"/>
              <a:ext cx="34998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57373"/>
                </a:buClr>
                <a:buSzPts val="1700"/>
                <a:buFont typeface="Trebuchet MS"/>
                <a:buNone/>
              </a:pPr>
              <a:r>
                <a:rPr b="1" i="0" lang="en" sz="1700" u="none" cap="none" strike="noStrike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Hallucinations</a:t>
              </a:r>
              <a:endParaRPr b="0" i="0" sz="17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16" name="Google Shape;1016;g3cbbc6fc060_0_1012"/>
            <p:cNvSpPr/>
            <p:nvPr/>
          </p:nvSpPr>
          <p:spPr>
            <a:xfrm>
              <a:off x="6684977" y="5092647"/>
              <a:ext cx="4517700" cy="7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1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Confidently wrong. No built-in way to verify or say "I don't know."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7" name="Google Shape;1017;g3cbbc6fc060_0_1012"/>
          <p:cNvCxnSpPr/>
          <p:nvPr/>
        </p:nvCxnSpPr>
        <p:spPr>
          <a:xfrm>
            <a:off x="4587155" y="751950"/>
            <a:ext cx="19200" cy="3982500"/>
          </a:xfrm>
          <a:prstGeom prst="straightConnector1">
            <a:avLst/>
          </a:prstGeom>
          <a:noFill/>
          <a:ln cap="flat" cmpd="sng" w="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g3cbbc6fc060_0_1012"/>
          <p:cNvCxnSpPr/>
          <p:nvPr/>
        </p:nvCxnSpPr>
        <p:spPr>
          <a:xfrm>
            <a:off x="608475" y="2785670"/>
            <a:ext cx="7919700" cy="9600"/>
          </a:xfrm>
          <a:prstGeom prst="straightConnector1">
            <a:avLst/>
          </a:prstGeom>
          <a:noFill/>
          <a:ln cap="flat" cmpd="sng" w="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cbbc6fc060_0_1043"/>
          <p:cNvSpPr txBox="1"/>
          <p:nvPr>
            <p:ph type="title"/>
          </p:nvPr>
        </p:nvSpPr>
        <p:spPr>
          <a:xfrm>
            <a:off x="821363" y="1653188"/>
            <a:ext cx="7501200" cy="18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3600">
                <a:solidFill>
                  <a:schemeClr val="accent5"/>
                </a:solidFill>
              </a:rPr>
              <a:t>What if we gave the LLM</a:t>
            </a:r>
            <a:r>
              <a:rPr b="1" lang="en" sz="3600">
                <a:solidFill>
                  <a:schemeClr val="accent1"/>
                </a:solidFill>
              </a:rPr>
              <a:t> </a:t>
            </a:r>
            <a:r>
              <a:rPr b="1" lang="en" sz="3600">
                <a:solidFill>
                  <a:schemeClr val="accent5"/>
                </a:solidFill>
              </a:rPr>
              <a:t>access to</a:t>
            </a:r>
            <a:r>
              <a:rPr b="1" lang="en" sz="4400">
                <a:solidFill>
                  <a:schemeClr val="accent1"/>
                </a:solidFill>
              </a:rPr>
              <a:t> </a:t>
            </a:r>
            <a:br>
              <a:rPr b="1" lang="en" sz="4400">
                <a:solidFill>
                  <a:schemeClr val="accent1"/>
                </a:solidFill>
              </a:rPr>
            </a:br>
            <a:r>
              <a:rPr b="1" lang="en" sz="4400">
                <a:solidFill>
                  <a:schemeClr val="accent4"/>
                </a:solidFill>
              </a:rPr>
              <a:t>tools</a:t>
            </a:r>
            <a:r>
              <a:rPr b="1" lang="en" sz="4400">
                <a:solidFill>
                  <a:schemeClr val="accent3"/>
                </a:solidFill>
              </a:rPr>
              <a:t> and a</a:t>
            </a:r>
            <a:r>
              <a:rPr b="1" lang="en" sz="4400">
                <a:solidFill>
                  <a:schemeClr val="accent1"/>
                </a:solidFill>
              </a:rPr>
              <a:t> </a:t>
            </a:r>
            <a:r>
              <a:rPr b="1" lang="en" sz="4400">
                <a:solidFill>
                  <a:schemeClr val="accent4"/>
                </a:solidFill>
              </a:rPr>
              <a:t>memory</a:t>
            </a:r>
            <a:r>
              <a:rPr b="1" lang="en" sz="4400">
                <a:solidFill>
                  <a:schemeClr val="accent3"/>
                </a:solidFill>
              </a:rPr>
              <a:t>?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1024" name="Google Shape;1024;g3cbbc6fc060_0_104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cbbc6fc060_0_1048"/>
          <p:cNvSpPr txBox="1"/>
          <p:nvPr/>
        </p:nvSpPr>
        <p:spPr>
          <a:xfrm>
            <a:off x="311738" y="14531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Agent = (Prompt + Tools + Memory) * LLM</a:t>
            </a:r>
            <a:br>
              <a:rPr b="1" i="0" lang="en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b="1" i="0" sz="28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030" name="Google Shape;1030;g3cbbc6fc060_0_1048"/>
          <p:cNvGrpSpPr/>
          <p:nvPr/>
        </p:nvGrpSpPr>
        <p:grpSpPr>
          <a:xfrm>
            <a:off x="514350" y="2071912"/>
            <a:ext cx="3989925" cy="2471992"/>
            <a:chOff x="685800" y="2762550"/>
            <a:chExt cx="5319900" cy="3295990"/>
          </a:xfrm>
        </p:grpSpPr>
        <p:sp>
          <p:nvSpPr>
            <p:cNvPr id="1031" name="Google Shape;1031;g3cbbc6fc060_0_1048"/>
            <p:cNvSpPr/>
            <p:nvPr/>
          </p:nvSpPr>
          <p:spPr>
            <a:xfrm>
              <a:off x="685800" y="2762550"/>
              <a:ext cx="5319900" cy="983100"/>
            </a:xfrm>
            <a:prstGeom prst="rect">
              <a:avLst/>
            </a:prstGeom>
            <a:noFill/>
            <a:ln>
              <a:noFill/>
            </a:ln>
            <a:effectLst>
              <a:outerShdw blurRad="48185" rotWithShape="0" algn="bl" dir="8100000" dist="12046">
                <a:srgbClr val="000000">
                  <a:alpha val="14902"/>
                </a:srgbClr>
              </a:outerShdw>
            </a:effectLst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cbbc6fc060_0_1048"/>
            <p:cNvSpPr/>
            <p:nvPr/>
          </p:nvSpPr>
          <p:spPr>
            <a:xfrm>
              <a:off x="685800" y="2901323"/>
              <a:ext cx="57600" cy="705300"/>
            </a:xfrm>
            <a:prstGeom prst="rect">
              <a:avLst/>
            </a:prstGeom>
            <a:solidFill>
              <a:srgbClr val="0F9D58"/>
            </a:solidFill>
            <a:ln>
              <a:noFill/>
            </a:ln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33" name="Google Shape;1033;g3cbbc6fc060_0_10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4911" y="3022750"/>
              <a:ext cx="462577" cy="4625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" name="Google Shape;1034;g3cbbc6fc060_0_1048"/>
            <p:cNvSpPr/>
            <p:nvPr/>
          </p:nvSpPr>
          <p:spPr>
            <a:xfrm>
              <a:off x="1610955" y="2855065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9D58"/>
                </a:buClr>
                <a:buSzPts val="1400"/>
                <a:buFont typeface="Trebuchet MS"/>
                <a:buNone/>
              </a:pPr>
              <a:r>
                <a:rPr b="1" i="0" lang="en" sz="1900" u="none" cap="none" strike="noStrike">
                  <a:solidFill>
                    <a:srgbClr val="22C55E"/>
                  </a:solidFill>
                  <a:latin typeface="Fira Sans"/>
                  <a:ea typeface="Fira Sans"/>
                  <a:cs typeface="Fira Sans"/>
                  <a:sym typeface="Fira Sans"/>
                </a:rPr>
                <a:t>Prompt</a:t>
              </a:r>
              <a:endParaRPr b="0" i="0" sz="1900" u="none" cap="none" strike="noStrike">
                <a:solidFill>
                  <a:srgbClr val="22C55E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35" name="Google Shape;1035;g3cbbc6fc060_0_1048"/>
            <p:cNvSpPr/>
            <p:nvPr/>
          </p:nvSpPr>
          <p:spPr>
            <a:xfrm>
              <a:off x="1610955" y="3248257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Fira Sans"/>
                  <a:ea typeface="Fira Sans"/>
                  <a:cs typeface="Fira Sans"/>
                  <a:sym typeface="Fira Sans"/>
                </a:rPr>
                <a:t>Defines the behavior</a:t>
              </a:r>
              <a:endParaRPr b="0" i="0" sz="11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36" name="Google Shape;1036;g3cbbc6fc060_0_1048"/>
            <p:cNvSpPr/>
            <p:nvPr/>
          </p:nvSpPr>
          <p:spPr>
            <a:xfrm>
              <a:off x="685800" y="3918995"/>
              <a:ext cx="5319900" cy="983100"/>
            </a:xfrm>
            <a:prstGeom prst="rect">
              <a:avLst/>
            </a:prstGeom>
            <a:noFill/>
            <a:ln>
              <a:noFill/>
            </a:ln>
            <a:effectLst>
              <a:outerShdw blurRad="48185" rotWithShape="0" algn="bl" dir="8100000" dist="12046">
                <a:srgbClr val="000000">
                  <a:alpha val="14902"/>
                </a:srgbClr>
              </a:outerShdw>
            </a:effectLst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cbbc6fc060_0_1048"/>
            <p:cNvSpPr/>
            <p:nvPr/>
          </p:nvSpPr>
          <p:spPr>
            <a:xfrm>
              <a:off x="685800" y="4057768"/>
              <a:ext cx="57600" cy="70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38" name="Google Shape;1038;g3cbbc6fc060_0_10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4911" y="4179195"/>
              <a:ext cx="462577" cy="4625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g3cbbc6fc060_0_1048"/>
            <p:cNvSpPr/>
            <p:nvPr/>
          </p:nvSpPr>
          <p:spPr>
            <a:xfrm>
              <a:off x="1610955" y="4011510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400"/>
                <a:buFont typeface="Trebuchet MS"/>
                <a:buNone/>
              </a:pPr>
              <a:r>
                <a:rPr b="1" i="0" lang="en" sz="1900" u="none" cap="none" strike="noStrike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Tools</a:t>
              </a:r>
              <a:endParaRPr b="0" i="0" sz="19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40" name="Google Shape;1040;g3cbbc6fc060_0_1048"/>
            <p:cNvSpPr/>
            <p:nvPr/>
          </p:nvSpPr>
          <p:spPr>
            <a:xfrm>
              <a:off x="1610955" y="4404702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Fira Sans"/>
                  <a:ea typeface="Fira Sans"/>
                  <a:cs typeface="Fira Sans"/>
                  <a:sym typeface="Fira Sans"/>
                </a:rPr>
                <a:t>Enable actions</a:t>
              </a:r>
              <a:br>
                <a:rPr b="0" i="0" lang="en" sz="1000" u="none" cap="none" strike="noStrike">
                  <a:solidFill>
                    <a:srgbClr val="B0BEC5"/>
                  </a:solidFill>
                  <a:latin typeface="Fira Sans"/>
                  <a:ea typeface="Fira Sans"/>
                  <a:cs typeface="Fira Sans"/>
                  <a:sym typeface="Fira Sans"/>
                </a:rPr>
              </a:br>
              <a:r>
                <a:rPr b="0" i="0" lang="en" sz="1000" u="none" cap="none" strike="noStrike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APIs, search, code execution, databases</a:t>
              </a:r>
              <a:endParaRPr b="0" i="0" sz="1000" u="none" cap="none" strike="noStrike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rgbClr val="B0BEC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41" name="Google Shape;1041;g3cbbc6fc060_0_1048"/>
            <p:cNvSpPr/>
            <p:nvPr/>
          </p:nvSpPr>
          <p:spPr>
            <a:xfrm>
              <a:off x="685800" y="5075440"/>
              <a:ext cx="5319900" cy="983100"/>
            </a:xfrm>
            <a:prstGeom prst="rect">
              <a:avLst/>
            </a:prstGeom>
            <a:noFill/>
            <a:ln>
              <a:noFill/>
            </a:ln>
            <a:effectLst>
              <a:outerShdw blurRad="48185" rotWithShape="0" algn="bl" dir="8100000" dist="12046">
                <a:srgbClr val="000000">
                  <a:alpha val="14902"/>
                </a:srgbClr>
              </a:outerShdw>
            </a:effectLst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cbbc6fc060_0_1048"/>
            <p:cNvSpPr/>
            <p:nvPr/>
          </p:nvSpPr>
          <p:spPr>
            <a:xfrm>
              <a:off x="685800" y="5214213"/>
              <a:ext cx="57600" cy="7053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86725" lIns="86725" spcFirstLastPara="1" rIns="86725" wrap="square" tIns="86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1043" name="Google Shape;1043;g3cbbc6fc060_0_10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4911" y="5335640"/>
              <a:ext cx="462577" cy="4625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g3cbbc6fc060_0_1048"/>
            <p:cNvSpPr/>
            <p:nvPr/>
          </p:nvSpPr>
          <p:spPr>
            <a:xfrm>
              <a:off x="1610955" y="5167955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B4437"/>
                </a:buClr>
                <a:buSzPts val="1400"/>
                <a:buFont typeface="Trebuchet MS"/>
                <a:buNone/>
              </a:pPr>
              <a:r>
                <a:rPr b="1" i="0" lang="en" sz="1900" u="none" cap="none" strike="noStrike">
                  <a:solidFill>
                    <a:srgbClr val="00B0F0"/>
                  </a:solidFill>
                  <a:latin typeface="Fira Sans"/>
                  <a:ea typeface="Fira Sans"/>
                  <a:cs typeface="Fira Sans"/>
                  <a:sym typeface="Fira Sans"/>
                </a:rPr>
                <a:t>Memory</a:t>
              </a:r>
              <a:endParaRPr b="0" i="0" sz="19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45" name="Google Shape;1045;g3cbbc6fc060_0_1048"/>
            <p:cNvSpPr/>
            <p:nvPr/>
          </p:nvSpPr>
          <p:spPr>
            <a:xfrm>
              <a:off x="1610955" y="5561147"/>
              <a:ext cx="4163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Calibri"/>
                <a:buNone/>
              </a:pPr>
              <a:r>
                <a:rPr b="0" i="0" lang="en" sz="1100" u="none" cap="none" strike="noStrike">
                  <a:solidFill>
                    <a:srgbClr val="B0BEC5"/>
                  </a:solidFill>
                  <a:latin typeface="Fira Sans"/>
                  <a:ea typeface="Fira Sans"/>
                  <a:cs typeface="Fira Sans"/>
                  <a:sym typeface="Fira Sans"/>
                </a:rPr>
                <a:t>Remembers between turns</a:t>
              </a:r>
              <a:endParaRPr b="0" i="0" sz="11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046" name="Google Shape;1046;g3cbbc6fc060_0_1048"/>
          <p:cNvSpPr/>
          <p:nvPr/>
        </p:nvSpPr>
        <p:spPr>
          <a:xfrm>
            <a:off x="482873" y="977775"/>
            <a:ext cx="39819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Georgia"/>
              <a:buNone/>
            </a:pPr>
            <a:r>
              <a:rPr b="0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An agent allows LLM to </a:t>
            </a:r>
            <a:r>
              <a:rPr b="1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act</a:t>
            </a:r>
            <a:r>
              <a:rPr b="0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b="1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remember</a:t>
            </a:r>
            <a:r>
              <a:rPr b="0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 context, and </a:t>
            </a:r>
            <a:r>
              <a:rPr b="1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decide</a:t>
            </a:r>
            <a:r>
              <a:rPr b="0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 what to do next.</a:t>
            </a:r>
            <a:endParaRPr b="0" i="0" sz="17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7" name="Google Shape;1047;g3cbbc6fc060_0_1048"/>
          <p:cNvSpPr txBox="1"/>
          <p:nvPr/>
        </p:nvSpPr>
        <p:spPr>
          <a:xfrm>
            <a:off x="4496137" y="4559588"/>
            <a:ext cx="4411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https://neo4j.com/blog/agentic-ai/what-is-ai-agent/</a:t>
            </a:r>
            <a:endParaRPr b="0" i="0" sz="8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048" name="Google Shape;1048;g3cbbc6fc060_0_10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4275" y="772321"/>
            <a:ext cx="4411126" cy="3799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cbbc6fc060_0_1071"/>
          <p:cNvSpPr txBox="1"/>
          <p:nvPr>
            <p:ph type="title"/>
          </p:nvPr>
        </p:nvSpPr>
        <p:spPr>
          <a:xfrm>
            <a:off x="168813" y="22318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Agents and </a:t>
            </a:r>
            <a:r>
              <a:rPr b="1" lang="en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Tools</a:t>
            </a:r>
            <a:endParaRPr b="1"/>
          </a:p>
        </p:txBody>
      </p:sp>
      <p:sp>
        <p:nvSpPr>
          <p:cNvPr id="1054" name="Google Shape;1054;g3cbbc6fc060_0_1071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5" name="Google Shape;1055;g3cbbc6fc060_0_1071"/>
          <p:cNvSpPr txBox="1"/>
          <p:nvPr/>
        </p:nvSpPr>
        <p:spPr>
          <a:xfrm>
            <a:off x="55969" y="1735669"/>
            <a:ext cx="4921800" cy="2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●"/>
            </a:pPr>
            <a:r>
              <a:rPr b="1" i="0" lang="en" sz="16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Retrieve</a:t>
            </a: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data from APIs, databases, or vector stores.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b="1" i="0" lang="en" sz="16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Execute</a:t>
            </a: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actions in external systems, such as sending emails or calling web services.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Run </a:t>
            </a:r>
            <a:r>
              <a:rPr b="1" i="0" lang="en" sz="16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deterministic logic</a:t>
            </a: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, such as sorting, filtering, data transformation etc.</a:t>
            </a:r>
            <a:endParaRPr b="0" i="0" sz="16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056" name="Google Shape;1056;g3cbbc6fc060_0_1071"/>
          <p:cNvPicPr preferRelativeResize="0"/>
          <p:nvPr/>
        </p:nvPicPr>
        <p:blipFill rotWithShape="1">
          <a:blip r:embed="rId3">
            <a:alphaModFix/>
          </a:blip>
          <a:srcRect b="10158" l="9069" r="8183" t="12882"/>
          <a:stretch/>
        </p:blipFill>
        <p:spPr>
          <a:xfrm>
            <a:off x="4977913" y="1049863"/>
            <a:ext cx="4052700" cy="2608800"/>
          </a:xfrm>
          <a:prstGeom prst="roundRect">
            <a:avLst>
              <a:gd fmla="val 12075" name="adj"/>
            </a:avLst>
          </a:prstGeom>
          <a:noFill/>
          <a:ln>
            <a:noFill/>
          </a:ln>
        </p:spPr>
      </p:pic>
      <p:sp>
        <p:nvSpPr>
          <p:cNvPr id="1057" name="Google Shape;1057;g3cbbc6fc060_0_1071"/>
          <p:cNvSpPr/>
          <p:nvPr/>
        </p:nvSpPr>
        <p:spPr>
          <a:xfrm>
            <a:off x="301256" y="1034925"/>
            <a:ext cx="4265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Georgia"/>
              <a:buNone/>
            </a:pPr>
            <a:r>
              <a:rPr b="0" i="0" lang="en" sz="1700" u="none" cap="none" strike="noStrike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Tools turn LLMs from text generators into systems that can act.</a:t>
            </a:r>
            <a:endParaRPr b="0" i="0" sz="17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Georgia"/>
              <a:buNone/>
            </a:pPr>
            <a:r>
              <a:t/>
            </a:r>
            <a:endParaRPr b="0" i="0" sz="1700" u="none" cap="none" strike="noStrike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cbbc6fc060_0_1079"/>
          <p:cNvSpPr txBox="1"/>
          <p:nvPr>
            <p:ph type="title"/>
          </p:nvPr>
        </p:nvSpPr>
        <p:spPr>
          <a:xfrm>
            <a:off x="168813" y="22318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Who’s deciding what to do next?</a:t>
            </a:r>
            <a:endParaRPr b="1"/>
          </a:p>
        </p:txBody>
      </p:sp>
      <p:sp>
        <p:nvSpPr>
          <p:cNvPr id="1063" name="Google Shape;1063;g3cbbc6fc060_0_1079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4" name="Google Shape;1064;g3cbbc6fc060_0_1079"/>
          <p:cNvSpPr txBox="1"/>
          <p:nvPr/>
        </p:nvSpPr>
        <p:spPr>
          <a:xfrm>
            <a:off x="162415" y="4752905"/>
            <a:ext cx="541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https://docs.langchain.com/oss/javascript/langgraph/workflows-agents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g3cbbc6fc060_0_1079"/>
          <p:cNvCxnSpPr/>
          <p:nvPr/>
        </p:nvCxnSpPr>
        <p:spPr>
          <a:xfrm>
            <a:off x="3706481" y="1702650"/>
            <a:ext cx="1872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066" name="Google Shape;1066;g3cbbc6fc060_0_1079"/>
          <p:cNvSpPr/>
          <p:nvPr/>
        </p:nvSpPr>
        <p:spPr>
          <a:xfrm>
            <a:off x="1310363" y="1114378"/>
            <a:ext cx="2212500" cy="38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Agentic </a:t>
            </a:r>
            <a:r>
              <a:rPr b="1" i="0" lang="en" sz="19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Workflows</a:t>
            </a:r>
            <a:endParaRPr b="1" i="0" sz="19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7" name="Google Shape;1067;g3cbbc6fc060_0_1079"/>
          <p:cNvSpPr/>
          <p:nvPr/>
        </p:nvSpPr>
        <p:spPr>
          <a:xfrm>
            <a:off x="5534606" y="1114388"/>
            <a:ext cx="2498100" cy="38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Autonomous</a:t>
            </a:r>
            <a:r>
              <a:rPr b="0" i="0" lang="en" sz="1900" u="none" cap="none" strike="noStrike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 Agents</a:t>
            </a:r>
            <a:endParaRPr b="0" i="0" sz="1900" u="none" cap="none" strike="noStrike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068" name="Google Shape;1068;g3cbbc6fc060_0_1079"/>
          <p:cNvPicPr preferRelativeResize="0"/>
          <p:nvPr/>
        </p:nvPicPr>
        <p:blipFill rotWithShape="1">
          <a:blip r:embed="rId4">
            <a:alphaModFix/>
          </a:blip>
          <a:srcRect b="31703" l="0" r="0" t="18967"/>
          <a:stretch/>
        </p:blipFill>
        <p:spPr>
          <a:xfrm>
            <a:off x="631894" y="2363512"/>
            <a:ext cx="7880213" cy="18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g3cbbc6fc060_0_1079"/>
          <p:cNvSpPr txBox="1"/>
          <p:nvPr/>
        </p:nvSpPr>
        <p:spPr>
          <a:xfrm>
            <a:off x="5059294" y="1510050"/>
            <a:ext cx="3448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The model dynamically </a:t>
            </a:r>
            <a:br>
              <a:rPr b="0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b="0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decides what to do next.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0" name="Google Shape;1070;g3cbbc6fc060_0_1079"/>
          <p:cNvSpPr txBox="1"/>
          <p:nvPr/>
        </p:nvSpPr>
        <p:spPr>
          <a:xfrm>
            <a:off x="485400" y="1515975"/>
            <a:ext cx="3862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LLM &amp; tool control flow is programmatically defined.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cbbc6fc060_0_1091"/>
          <p:cNvSpPr txBox="1"/>
          <p:nvPr>
            <p:ph type="title"/>
          </p:nvPr>
        </p:nvSpPr>
        <p:spPr>
          <a:xfrm>
            <a:off x="168813" y="22318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Workflows vs. Autonomous</a:t>
            </a:r>
            <a:endParaRPr b="1"/>
          </a:p>
        </p:txBody>
      </p:sp>
      <p:sp>
        <p:nvSpPr>
          <p:cNvPr id="1076" name="Google Shape;1076;g3cbbc6fc060_0_1091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77" name="Google Shape;1077;g3cbbc6fc060_0_1091"/>
          <p:cNvGraphicFramePr/>
          <p:nvPr/>
        </p:nvGraphicFramePr>
        <p:xfrm>
          <a:off x="276769" y="10788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{B0A60329-19E3-475D-B289-D9FFB5489BAD}</a:tableStyleId>
              </a:tblPr>
              <a:tblGrid>
                <a:gridCol w="1877525"/>
                <a:gridCol w="3267675"/>
                <a:gridCol w="3257875"/>
              </a:tblGrid>
              <a:tr h="29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🔄 </a:t>
                      </a:r>
                      <a:r>
                        <a:rPr b="1" lang="en" sz="1400" u="none" cap="none" strike="noStrike">
                          <a:solidFill>
                            <a:schemeClr val="accent4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Autonomous</a:t>
                      </a:r>
                      <a:endParaRPr sz="1400" u="none" cap="none" strike="noStrike">
                        <a:solidFill>
                          <a:schemeClr val="accent4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⛓️ </a:t>
                      </a:r>
                      <a:r>
                        <a:rPr b="1" lang="en" sz="1400" u="none" cap="none" strike="noStrike">
                          <a:solidFill>
                            <a:srgbClr val="3996D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Workflow</a:t>
                      </a:r>
                      <a:endParaRPr sz="1400" u="none" cap="none" strike="noStrike">
                        <a:solidFill>
                          <a:srgbClr val="3996D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299450"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Orchestration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LLM (dynamic)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Code (fixed pipeline)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299450"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Flexibility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High (adapts on the fly)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Low (predefined steps)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2994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Predictability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Lower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Higher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2994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Error handling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LLM reasons about it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Developer codes it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2994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LLM calls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 (unknown ahead of time)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Fixed (known in advance)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Best for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Open-ended tasks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Well-defined processes</a:t>
                      </a:r>
                      <a:endParaRPr sz="1400" u="none" cap="none" strike="noStrike">
                        <a:solidFill>
                          <a:schemeClr val="l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8575" marB="68575" marR="68575" marL="68575"/>
                </a:tc>
              </a:tr>
            </a:tbl>
          </a:graphicData>
        </a:graphic>
      </p:graphicFrame>
      <p:grpSp>
        <p:nvGrpSpPr>
          <p:cNvPr id="1078" name="Google Shape;1078;g3cbbc6fc060_0_1091"/>
          <p:cNvGrpSpPr/>
          <p:nvPr/>
        </p:nvGrpSpPr>
        <p:grpSpPr>
          <a:xfrm>
            <a:off x="276769" y="3741581"/>
            <a:ext cx="8403075" cy="814725"/>
            <a:chOff x="369025" y="5064975"/>
            <a:chExt cx="11204100" cy="1086300"/>
          </a:xfrm>
        </p:grpSpPr>
        <p:pic>
          <p:nvPicPr>
            <p:cNvPr descr="image.png" id="1079" name="Google Shape;1079;g3cbbc6fc060_0_10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9025" y="5064975"/>
              <a:ext cx="11204100" cy="1086300"/>
            </a:xfrm>
            <a:prstGeom prst="roundRect">
              <a:avLst>
                <a:gd fmla="val 68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80" name="Google Shape;1080;g3cbbc6fc060_0_1091"/>
            <p:cNvSpPr txBox="1"/>
            <p:nvPr/>
          </p:nvSpPr>
          <p:spPr>
            <a:xfrm>
              <a:off x="549675" y="5309000"/>
              <a:ext cx="10771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💡 In practice:</a:t>
              </a:r>
              <a:r>
                <a:rPr b="0" i="0" lang="en" sz="1100" u="none" cap="none" strike="noStrike">
                  <a:solidFill>
                    <a:schemeClr val="l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Most production systems are hybrids: a workflow defines the high-level stages, but individual stages may use autonomous reasoning within a bounded scope.</a:t>
              </a:r>
              <a:endParaRPr b="1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cbbc6fc060_0_1100"/>
          <p:cNvSpPr txBox="1"/>
          <p:nvPr>
            <p:ph type="title"/>
          </p:nvPr>
        </p:nvSpPr>
        <p:spPr>
          <a:xfrm>
            <a:off x="181806" y="15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The Agent Loop = Loop(Think  + Act  + Observe)</a:t>
            </a:r>
            <a:br>
              <a:rPr b="1" lang="en"/>
            </a:b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</p:txBody>
      </p:sp>
      <p:sp>
        <p:nvSpPr>
          <p:cNvPr id="1086" name="Google Shape;1086;g3cbbc6fc060_0_1100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7" name="Google Shape;1087;g3cbbc6fc060_0_1100"/>
          <p:cNvPicPr preferRelativeResize="0"/>
          <p:nvPr/>
        </p:nvPicPr>
        <p:blipFill rotWithShape="1">
          <a:blip r:embed="rId3">
            <a:alphaModFix/>
          </a:blip>
          <a:srcRect b="0" l="20056" r="20074" t="0"/>
          <a:stretch/>
        </p:blipFill>
        <p:spPr>
          <a:xfrm>
            <a:off x="1663519" y="809756"/>
            <a:ext cx="5588362" cy="388775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g3cbbc6fc060_0_1100"/>
          <p:cNvSpPr txBox="1"/>
          <p:nvPr/>
        </p:nvSpPr>
        <p:spPr>
          <a:xfrm>
            <a:off x="1644587" y="4652260"/>
            <a:ext cx="558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https://www.anthropic.com/engineering/building-effective-agents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cbbc6fc060_0_1100"/>
          <p:cNvSpPr txBox="1"/>
          <p:nvPr/>
        </p:nvSpPr>
        <p:spPr>
          <a:xfrm>
            <a:off x="3573975" y="2098988"/>
            <a:ext cx="718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Think</a:t>
            </a:r>
            <a:endParaRPr b="0" i="0" sz="11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0" name="Google Shape;1090;g3cbbc6fc060_0_1100"/>
          <p:cNvSpPr txBox="1"/>
          <p:nvPr/>
        </p:nvSpPr>
        <p:spPr>
          <a:xfrm>
            <a:off x="4774763" y="3429000"/>
            <a:ext cx="718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Observe</a:t>
            </a:r>
            <a:endParaRPr b="0" i="0" sz="11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1" name="Google Shape;1091;g3cbbc6fc060_0_1100"/>
          <p:cNvSpPr txBox="1"/>
          <p:nvPr/>
        </p:nvSpPr>
        <p:spPr>
          <a:xfrm>
            <a:off x="4774763" y="2052569"/>
            <a:ext cx="718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Act</a:t>
            </a:r>
            <a:endParaRPr b="0" i="0" sz="11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cbbc6fc060_0_1110"/>
          <p:cNvSpPr txBox="1"/>
          <p:nvPr>
            <p:ph type="title"/>
          </p:nvPr>
        </p:nvSpPr>
        <p:spPr>
          <a:xfrm>
            <a:off x="208819" y="108881"/>
            <a:ext cx="8667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Agent’s way of solving problems - Example</a:t>
            </a:r>
            <a:endParaRPr b="1"/>
          </a:p>
        </p:txBody>
      </p:sp>
      <p:sp>
        <p:nvSpPr>
          <p:cNvPr id="1097" name="Google Shape;1097;g3cbbc6fc060_0_1110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8" name="Google Shape;1098;g3cbbc6fc060_0_1110"/>
          <p:cNvSpPr/>
          <p:nvPr/>
        </p:nvSpPr>
        <p:spPr>
          <a:xfrm>
            <a:off x="327638" y="754256"/>
            <a:ext cx="3120600" cy="21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Meeting scheduling agent</a:t>
            </a:r>
            <a:endParaRPr b="1" i="0" sz="1100" u="none" cap="none" strike="noStrike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1" i="0" lang="en" sz="11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System prompt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“you are a scheduling assistant helping user book meetings”</a:t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Tool definitions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onsolas"/>
              <a:buChar char="-"/>
            </a:pP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find_next_free_slot(from_date)</a:t>
            </a:r>
            <a:endParaRPr b="0" i="0" sz="1100" u="none" cap="none" strike="noStrike">
              <a:solidFill>
                <a:srgbClr val="B0BE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onsolas"/>
              <a:buChar char="-"/>
            </a:pP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book_slot(start_time, duration)</a:t>
            </a:r>
            <a:endParaRPr b="0" i="0" sz="1100" u="none" cap="none" strike="noStrike">
              <a:solidFill>
                <a:srgbClr val="B0BE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B0BEC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9" name="Google Shape;1099;g3cbbc6fc060_0_1110"/>
          <p:cNvSpPr/>
          <p:nvPr/>
        </p:nvSpPr>
        <p:spPr>
          <a:xfrm>
            <a:off x="3685331" y="754256"/>
            <a:ext cx="5134200" cy="41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user -&gt; “book 30 mins on Feb 16”</a:t>
            </a:r>
            <a:br>
              <a:rPr b="0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START</a:t>
            </a:r>
            <a:b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THINK</a:t>
            </a: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1. I need to find next available slot for Feb 16.</a:t>
            </a: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2. </a:t>
            </a: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find_next_free_slot(</a:t>
            </a: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“Feb 16”</a:t>
            </a: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-&gt; 9am</a:t>
            </a:r>
            <a:endParaRPr b="0" i="0" sz="11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OBSERVE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3. Okay next available slot is 9am. </a:t>
            </a:r>
            <a:endParaRPr b="0" i="0" sz="11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THINK</a:t>
            </a: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4. Now I need to book the 9am slot for 30 mins </a:t>
            </a: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5. </a:t>
            </a: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book_slot(</a:t>
            </a: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9am, 30 mins</a:t>
            </a:r>
            <a:r>
              <a:rPr b="0" i="0" lang="en" sz="11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-&gt; true</a:t>
            </a:r>
            <a:endParaRPr b="0" i="0" sz="11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OBSERVE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6. Meeting booked, task is complete.</a:t>
            </a: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" sz="11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END</a:t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0" name="Google Shape;1100;g3cbbc6fc060_0_1110" title="01k84hqvz13tyn445mcw11tz46.png"/>
          <p:cNvPicPr preferRelativeResize="0"/>
          <p:nvPr/>
        </p:nvPicPr>
        <p:blipFill rotWithShape="1">
          <a:blip r:embed="rId3">
            <a:alphaModFix/>
          </a:blip>
          <a:srcRect b="5689" l="6437" r="9081" t="12917"/>
          <a:stretch/>
        </p:blipFill>
        <p:spPr>
          <a:xfrm>
            <a:off x="327638" y="3003994"/>
            <a:ext cx="3120787" cy="19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cbbc6fc060_0_1118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6" name="Google Shape;1106;g3cbbc6fc060_0_1118"/>
          <p:cNvSpPr txBox="1"/>
          <p:nvPr>
            <p:ph type="title"/>
          </p:nvPr>
        </p:nvSpPr>
        <p:spPr>
          <a:xfrm>
            <a:off x="150676" y="190706"/>
            <a:ext cx="8816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Agent’s way of solving problems - Example</a:t>
            </a:r>
            <a:endParaRPr b="1"/>
          </a:p>
        </p:txBody>
      </p:sp>
      <p:sp>
        <p:nvSpPr>
          <p:cNvPr id="1107" name="Google Shape;1107;g3cbbc6fc060_0_1118"/>
          <p:cNvSpPr/>
          <p:nvPr/>
        </p:nvSpPr>
        <p:spPr>
          <a:xfrm>
            <a:off x="652637" y="901631"/>
            <a:ext cx="459600" cy="459600"/>
          </a:xfrm>
          <a:prstGeom prst="ellipse">
            <a:avLst/>
          </a:prstGeom>
          <a:solidFill>
            <a:srgbClr val="16213E"/>
          </a:solidFill>
          <a:ln cap="flat" cmpd="sng" w="19150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8" name="Google Shape;1108;g3cbbc6fc060_0_1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08" y="993524"/>
            <a:ext cx="238920" cy="23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g3cbbc6fc060_0_1118"/>
          <p:cNvSpPr/>
          <p:nvPr/>
        </p:nvSpPr>
        <p:spPr>
          <a:xfrm>
            <a:off x="422906" y="1379473"/>
            <a:ext cx="9189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000"/>
              <a:buFont typeface="Trebuchet MS"/>
              <a:buNone/>
            </a:pPr>
            <a:r>
              <a:rPr b="1" i="0" lang="en" sz="1000" u="none" cap="none" strike="noStrike">
                <a:solidFill>
                  <a:srgbClr val="0F9D58"/>
                </a:solidFill>
                <a:latin typeface="Trebuchet MS"/>
                <a:ea typeface="Trebuchet MS"/>
                <a:cs typeface="Trebuchet MS"/>
                <a:sym typeface="Trebuchet MS"/>
              </a:rPr>
              <a:t>You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g3cbbc6fc060_0_1118"/>
          <p:cNvSpPr/>
          <p:nvPr/>
        </p:nvSpPr>
        <p:spPr>
          <a:xfrm>
            <a:off x="3960763" y="901631"/>
            <a:ext cx="459600" cy="459600"/>
          </a:xfrm>
          <a:prstGeom prst="ellipse">
            <a:avLst/>
          </a:prstGeom>
          <a:solidFill>
            <a:srgbClr val="16213E"/>
          </a:solidFill>
          <a:ln cap="flat" cmpd="sng" w="191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1" name="Google Shape;1111;g3cbbc6fc060_0_1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034" y="993524"/>
            <a:ext cx="238920" cy="23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g3cbbc6fc060_0_1118"/>
          <p:cNvSpPr/>
          <p:nvPr/>
        </p:nvSpPr>
        <p:spPr>
          <a:xfrm>
            <a:off x="3731032" y="1379473"/>
            <a:ext cx="9189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000"/>
              <a:buFont typeface="Trebuchet MS"/>
              <a:buNone/>
            </a:pPr>
            <a:r>
              <a:rPr b="1" i="0" lang="en" sz="1000" u="none" cap="none" strike="noStrike">
                <a:solidFill>
                  <a:srgbClr val="4285F4"/>
                </a:solidFill>
                <a:latin typeface="Trebuchet MS"/>
                <a:ea typeface="Trebuchet MS"/>
                <a:cs typeface="Trebuchet MS"/>
                <a:sym typeface="Trebuchet MS"/>
              </a:rPr>
              <a:t>Agent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g3cbbc6fc060_0_1118"/>
          <p:cNvSpPr/>
          <p:nvPr/>
        </p:nvSpPr>
        <p:spPr>
          <a:xfrm>
            <a:off x="7268889" y="901631"/>
            <a:ext cx="459600" cy="459600"/>
          </a:xfrm>
          <a:prstGeom prst="ellipse">
            <a:avLst/>
          </a:prstGeom>
          <a:solidFill>
            <a:srgbClr val="16213E"/>
          </a:solidFill>
          <a:ln cap="flat" cmpd="sng" w="191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4" name="Google Shape;1114;g3cbbc6fc060_0_1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9159" y="993524"/>
            <a:ext cx="238920" cy="23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3cbbc6fc060_0_1118"/>
          <p:cNvSpPr/>
          <p:nvPr/>
        </p:nvSpPr>
        <p:spPr>
          <a:xfrm>
            <a:off x="7039158" y="1379473"/>
            <a:ext cx="9189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000"/>
              <a:buFont typeface="Trebuchet MS"/>
              <a:buNone/>
            </a:pPr>
            <a:r>
              <a:rPr b="1" i="0" lang="en" sz="1000" u="none" cap="none" strike="noStrike">
                <a:solidFill>
                  <a:srgbClr val="F4B400"/>
                </a:solidFill>
                <a:latin typeface="Trebuchet MS"/>
                <a:ea typeface="Trebuchet MS"/>
                <a:cs typeface="Trebuchet MS"/>
                <a:sym typeface="Trebuchet MS"/>
              </a:rPr>
              <a:t>LLM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6" name="Google Shape;1116;g3cbbc6fc060_0_1118"/>
          <p:cNvCxnSpPr/>
          <p:nvPr/>
        </p:nvCxnSpPr>
        <p:spPr>
          <a:xfrm>
            <a:off x="882368" y="1618393"/>
            <a:ext cx="0" cy="3537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17" name="Google Shape;1117;g3cbbc6fc060_0_1118"/>
          <p:cNvCxnSpPr/>
          <p:nvPr/>
        </p:nvCxnSpPr>
        <p:spPr>
          <a:xfrm>
            <a:off x="4190494" y="1618393"/>
            <a:ext cx="0" cy="3537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18" name="Google Shape;1118;g3cbbc6fc060_0_1118"/>
          <p:cNvCxnSpPr/>
          <p:nvPr/>
        </p:nvCxnSpPr>
        <p:spPr>
          <a:xfrm>
            <a:off x="7498620" y="1618393"/>
            <a:ext cx="0" cy="3537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19" name="Google Shape;1119;g3cbbc6fc060_0_1118"/>
          <p:cNvCxnSpPr/>
          <p:nvPr/>
        </p:nvCxnSpPr>
        <p:spPr>
          <a:xfrm>
            <a:off x="928314" y="1820557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0F9D58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120" name="Google Shape;1120;g3cbbc6fc060_0_1118"/>
          <p:cNvSpPr/>
          <p:nvPr/>
        </p:nvSpPr>
        <p:spPr>
          <a:xfrm>
            <a:off x="2435349" y="1600015"/>
            <a:ext cx="202200" cy="2022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g3cbbc6fc060_0_1118"/>
          <p:cNvSpPr/>
          <p:nvPr/>
        </p:nvSpPr>
        <p:spPr>
          <a:xfrm>
            <a:off x="2435349" y="1600015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cbbc6fc060_0_1118"/>
          <p:cNvSpPr/>
          <p:nvPr/>
        </p:nvSpPr>
        <p:spPr>
          <a:xfrm>
            <a:off x="1433722" y="1857314"/>
            <a:ext cx="2205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Fira Sans"/>
                <a:ea typeface="Fira Sans"/>
                <a:cs typeface="Fira Sans"/>
                <a:sym typeface="Fira Sans"/>
              </a:rPr>
              <a:t>"I am flying to Paris today. Should I carry an umbrella?"</a:t>
            </a:r>
            <a:endParaRPr b="0" i="0" sz="11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123" name="Google Shape;1123;g3cbbc6fc060_0_1118"/>
          <p:cNvCxnSpPr/>
          <p:nvPr/>
        </p:nvCxnSpPr>
        <p:spPr>
          <a:xfrm>
            <a:off x="4236440" y="2600513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124" name="Google Shape;1124;g3cbbc6fc060_0_1118"/>
          <p:cNvSpPr/>
          <p:nvPr/>
        </p:nvSpPr>
        <p:spPr>
          <a:xfrm>
            <a:off x="5743475" y="2379970"/>
            <a:ext cx="202200" cy="202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g3cbbc6fc060_0_1118"/>
          <p:cNvSpPr/>
          <p:nvPr/>
        </p:nvSpPr>
        <p:spPr>
          <a:xfrm>
            <a:off x="5743475" y="2379970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cbbc6fc060_0_1118"/>
          <p:cNvSpPr/>
          <p:nvPr/>
        </p:nvSpPr>
        <p:spPr>
          <a:xfrm>
            <a:off x="4309950" y="2637263"/>
            <a:ext cx="3069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+ tool definitions + user message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g3cbbc6fc060_0_1118"/>
          <p:cNvCxnSpPr/>
          <p:nvPr/>
        </p:nvCxnSpPr>
        <p:spPr>
          <a:xfrm>
            <a:off x="4236440" y="3151868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1128" name="Google Shape;1128;g3cbbc6fc060_0_1118"/>
          <p:cNvSpPr/>
          <p:nvPr/>
        </p:nvSpPr>
        <p:spPr>
          <a:xfrm>
            <a:off x="5743475" y="2931326"/>
            <a:ext cx="202200" cy="202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cbbc6fc060_0_1118"/>
          <p:cNvSpPr/>
          <p:nvPr/>
        </p:nvSpPr>
        <p:spPr>
          <a:xfrm>
            <a:off x="5743475" y="2931326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g3cbbc6fc060_0_1118"/>
          <p:cNvSpPr/>
          <p:nvPr/>
        </p:nvSpPr>
        <p:spPr>
          <a:xfrm>
            <a:off x="4833740" y="3188625"/>
            <a:ext cx="2021700" cy="202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g3cbbc6fc060_0_1118"/>
          <p:cNvSpPr/>
          <p:nvPr/>
        </p:nvSpPr>
        <p:spPr>
          <a:xfrm>
            <a:off x="4833740" y="3188625"/>
            <a:ext cx="20217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800"/>
              <a:buFont typeface="Consolas"/>
              <a:buNone/>
            </a:pPr>
            <a:r>
              <a:rPr b="0" i="0" lang="en" sz="1100" u="none" cap="none" strike="noStrike">
                <a:solidFill>
                  <a:srgbClr val="F4B400"/>
                </a:solidFill>
                <a:latin typeface="Consolas"/>
                <a:ea typeface="Consolas"/>
                <a:cs typeface="Consolas"/>
                <a:sym typeface="Consolas"/>
              </a:rPr>
              <a:t>get_weather("Paris")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g3cbbc6fc060_0_1118"/>
          <p:cNvCxnSpPr/>
          <p:nvPr/>
        </p:nvCxnSpPr>
        <p:spPr>
          <a:xfrm>
            <a:off x="4236440" y="3657277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133" name="Google Shape;1133;g3cbbc6fc060_0_1118"/>
          <p:cNvSpPr/>
          <p:nvPr/>
        </p:nvSpPr>
        <p:spPr>
          <a:xfrm>
            <a:off x="5743475" y="3436735"/>
            <a:ext cx="202200" cy="202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g3cbbc6fc060_0_1118"/>
          <p:cNvSpPr/>
          <p:nvPr/>
        </p:nvSpPr>
        <p:spPr>
          <a:xfrm>
            <a:off x="5743475" y="3436735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g3cbbc6fc060_0_1118"/>
          <p:cNvSpPr/>
          <p:nvPr/>
        </p:nvSpPr>
        <p:spPr>
          <a:xfrm>
            <a:off x="4420219" y="3694031"/>
            <a:ext cx="28488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+ tool definitions + message history</a:t>
            </a:r>
            <a:b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tool result: "Paris, 14°C,</a:t>
            </a: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rain expected"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6" name="Google Shape;1136;g3cbbc6fc060_0_1118"/>
          <p:cNvCxnSpPr/>
          <p:nvPr/>
        </p:nvCxnSpPr>
        <p:spPr>
          <a:xfrm>
            <a:off x="4236440" y="4322933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1137" name="Google Shape;1137;g3cbbc6fc060_0_1118"/>
          <p:cNvSpPr/>
          <p:nvPr/>
        </p:nvSpPr>
        <p:spPr>
          <a:xfrm>
            <a:off x="5743475" y="4102391"/>
            <a:ext cx="202200" cy="202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g3cbbc6fc060_0_1118"/>
          <p:cNvSpPr/>
          <p:nvPr/>
        </p:nvSpPr>
        <p:spPr>
          <a:xfrm>
            <a:off x="5743475" y="4102391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g3cbbc6fc060_0_1118"/>
          <p:cNvSpPr/>
          <p:nvPr/>
        </p:nvSpPr>
        <p:spPr>
          <a:xfrm>
            <a:off x="4741848" y="4359690"/>
            <a:ext cx="2205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"Yes, bring an umbrella!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Rain is expected today."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0" name="Google Shape;1140;g3cbbc6fc060_0_1118"/>
          <p:cNvCxnSpPr/>
          <p:nvPr/>
        </p:nvCxnSpPr>
        <p:spPr>
          <a:xfrm>
            <a:off x="928314" y="4702838"/>
            <a:ext cx="3216300" cy="0"/>
          </a:xfrm>
          <a:prstGeom prst="straightConnector1">
            <a:avLst/>
          </a:prstGeom>
          <a:noFill/>
          <a:ln cap="flat" cmpd="sng" w="28575">
            <a:solidFill>
              <a:srgbClr val="0F9D58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1141" name="Google Shape;1141;g3cbbc6fc060_0_1118"/>
          <p:cNvSpPr/>
          <p:nvPr/>
        </p:nvSpPr>
        <p:spPr>
          <a:xfrm>
            <a:off x="2435349" y="4482296"/>
            <a:ext cx="202200" cy="2022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g3cbbc6fc060_0_1118"/>
          <p:cNvSpPr/>
          <p:nvPr/>
        </p:nvSpPr>
        <p:spPr>
          <a:xfrm>
            <a:off x="2435349" y="4482296"/>
            <a:ext cx="202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Trebuchet MS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g3cbbc6fc060_0_1118"/>
          <p:cNvSpPr/>
          <p:nvPr/>
        </p:nvSpPr>
        <p:spPr>
          <a:xfrm>
            <a:off x="1433718" y="4739588"/>
            <a:ext cx="2435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B0BEC5"/>
                </a:solidFill>
                <a:latin typeface="Fira Sans"/>
                <a:ea typeface="Fira Sans"/>
                <a:cs typeface="Fira Sans"/>
                <a:sym typeface="Fira Sans"/>
              </a:rPr>
              <a:t>"Yes, bring an umbrella! ☂"</a:t>
            </a:r>
            <a:endParaRPr b="0" i="0" sz="11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44" name="Google Shape;1144;g3cbbc6fc060_0_1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278" y="4185948"/>
            <a:ext cx="586523" cy="586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g3cbbc6fc060_0_11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7129" y="4598371"/>
            <a:ext cx="169518" cy="169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g3cbbc6fc060_0_1118"/>
          <p:cNvSpPr/>
          <p:nvPr/>
        </p:nvSpPr>
        <p:spPr>
          <a:xfrm>
            <a:off x="4551963" y="764347"/>
            <a:ext cx="2503800" cy="1340700"/>
          </a:xfrm>
          <a:prstGeom prst="wedgeRectCallout">
            <a:avLst>
              <a:gd fmla="val -53923" name="adj1"/>
              <a:gd fmla="val -2570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system prompt</a:t>
            </a:r>
            <a:r>
              <a:rPr b="1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“you are a travel assistant helping user with their questions”</a:t>
            </a:r>
            <a:endParaRPr b="0" i="0" sz="1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tool definitions</a:t>
            </a:r>
            <a:br>
              <a:rPr b="0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get_weather(location</a:t>
            </a:r>
            <a:r>
              <a:rPr b="0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000" u="none" cap="none" strike="noStrike">
              <a:solidFill>
                <a:srgbClr val="B0BEC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history</a:t>
            </a:r>
            <a:br>
              <a:rPr b="1" i="0" lang="en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000" u="none" cap="none" strike="noStrike">
              <a:solidFill>
                <a:srgbClr val="B0BE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7" name="Google Shape;1147;g3cbbc6fc060_0_11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9875" y="4598371"/>
            <a:ext cx="169519" cy="16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70fd706a6_0_4"/>
          <p:cNvSpPr txBox="1"/>
          <p:nvPr/>
        </p:nvSpPr>
        <p:spPr>
          <a:xfrm>
            <a:off x="428631" y="397725"/>
            <a:ext cx="351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The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Cognitive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Engine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a70fd706a6_0_4"/>
          <p:cNvSpPr/>
          <p:nvPr/>
        </p:nvSpPr>
        <p:spPr>
          <a:xfrm>
            <a:off x="428625" y="1325835"/>
            <a:ext cx="3714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g3a70fd706a6_0_4"/>
          <p:cNvSpPr txBox="1"/>
          <p:nvPr/>
        </p:nvSpPr>
        <p:spPr>
          <a:xfrm>
            <a:off x="407100" y="1138115"/>
            <a:ext cx="3900600" cy="5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900" u="none" cap="none" strike="noStrike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More Than Just Text</a:t>
            </a:r>
            <a:endParaRPr b="0" i="0" sz="1900" u="none" cap="none" strike="noStrike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 an agentic system, the LLM stops being a simple chatbot and becomes the </a:t>
            </a:r>
            <a:r>
              <a:rPr b="1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Reasoning Core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It acts as the central controller that: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Parses user intent from ambiguous natural language.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Decomposes complex problems into steps.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Synthesizes data returned from those tools.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5" name="Google Shape;1155;g3a70fd706a6_0_4"/>
          <p:cNvSpPr txBox="1"/>
          <p:nvPr/>
        </p:nvSpPr>
        <p:spPr>
          <a:xfrm>
            <a:off x="492919" y="3387476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a70fd706a6_0_4"/>
          <p:cNvSpPr txBox="1"/>
          <p:nvPr/>
        </p:nvSpPr>
        <p:spPr>
          <a:xfrm>
            <a:off x="492919" y="3844676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7" name="Google Shape;1157;g3a70fd706a6_0_4" title="Controller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400" y="844125"/>
            <a:ext cx="4132925" cy="362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a13868517_0_852"/>
          <p:cNvSpPr txBox="1"/>
          <p:nvPr/>
        </p:nvSpPr>
        <p:spPr>
          <a:xfrm>
            <a:off x="428625" y="428625"/>
            <a:ext cx="390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The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ReAct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Loop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g3aa13868517_0_852"/>
          <p:cNvSpPr/>
          <p:nvPr/>
        </p:nvSpPr>
        <p:spPr>
          <a:xfrm>
            <a:off x="428625" y="948668"/>
            <a:ext cx="3714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g3aa13868517_0_852"/>
          <p:cNvSpPr txBox="1"/>
          <p:nvPr/>
        </p:nvSpPr>
        <p:spPr>
          <a:xfrm>
            <a:off x="428625" y="1060526"/>
            <a:ext cx="3900600" cy="4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Reasoning + Acting</a:t>
            </a:r>
            <a:endParaRPr b="1" i="0" sz="18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standard loop for modern agents is </a:t>
            </a:r>
            <a:r>
              <a:rPr b="1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●"/>
            </a:pPr>
            <a:r>
              <a:rPr b="1" i="0" lang="en" sz="13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Thought:</a:t>
            </a:r>
            <a:r>
              <a:rPr b="0" i="0" lang="en" sz="13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agent analyzes the request.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●"/>
            </a:pPr>
            <a:r>
              <a:rPr b="1" i="0" lang="en" sz="13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r>
              <a:rPr b="1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decides which tool to call.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●"/>
            </a:pPr>
            <a:r>
              <a:rPr b="1" i="0" lang="en" sz="13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Observation</a:t>
            </a:r>
            <a:r>
              <a:rPr b="1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reads the tool's output.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●"/>
            </a:pPr>
            <a:r>
              <a:rPr b="1" i="0" lang="en" sz="13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Repeat</a:t>
            </a:r>
            <a:r>
              <a:rPr b="1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updates its thought process.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cycle continues until the final answer is found.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5" name="Google Shape;1165;g3aa13868517_0_852"/>
          <p:cNvSpPr txBox="1"/>
          <p:nvPr/>
        </p:nvSpPr>
        <p:spPr>
          <a:xfrm>
            <a:off x="728663" y="3370399"/>
            <a:ext cx="12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3aa13868517_0_852"/>
          <p:cNvSpPr txBox="1"/>
          <p:nvPr/>
        </p:nvSpPr>
        <p:spPr>
          <a:xfrm>
            <a:off x="392625" y="478862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https://arxiv.org/abs/2210.03629</a:t>
            </a:r>
            <a:endParaRPr b="0" i="0" sz="11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7" name="Google Shape;1167;g3aa13868517_0_8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21475"/>
            <a:ext cx="4416550" cy="49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g3aa13868517_0_852"/>
          <p:cNvSpPr txBox="1"/>
          <p:nvPr/>
        </p:nvSpPr>
        <p:spPr>
          <a:xfrm>
            <a:off x="356625" y="4326925"/>
            <a:ext cx="37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Customize agent workflows with advanced orchestration techniques using Strands Agents | Artificial Intelligence</a:t>
            </a:r>
            <a:endParaRPr b="0" i="0" sz="1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aa13868517_0_802"/>
          <p:cNvSpPr txBox="1"/>
          <p:nvPr/>
        </p:nvSpPr>
        <p:spPr>
          <a:xfrm>
            <a:off x="428625" y="1292428"/>
            <a:ext cx="39291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 functional agent consists of four main modules: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The Brain (LLM):</a:t>
            </a:r>
            <a:r>
              <a:rPr b="0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The decision-maker.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Planning: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Breaking down complex goals.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Memory: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Storing history and context.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Tools: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Capabilities to interact with the world.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4" name="Google Shape;1174;g3aa13868517_0_802"/>
          <p:cNvSpPr txBox="1"/>
          <p:nvPr/>
        </p:nvSpPr>
        <p:spPr>
          <a:xfrm>
            <a:off x="492919" y="2896009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g3aa13868517_0_802"/>
          <p:cNvSpPr txBox="1"/>
          <p:nvPr/>
        </p:nvSpPr>
        <p:spPr>
          <a:xfrm>
            <a:off x="492919" y="3231765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3aa13868517_0_802"/>
          <p:cNvSpPr txBox="1"/>
          <p:nvPr/>
        </p:nvSpPr>
        <p:spPr>
          <a:xfrm>
            <a:off x="428625" y="428625"/>
            <a:ext cx="870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Anatomy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of an Agent</a:t>
            </a:r>
            <a:endParaRPr b="1" i="0" sz="29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7" name="Google Shape;1177;g3aa13868517_0_802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8" name="Google Shape;1178;g3aa13868517_0_8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1425" y="1556350"/>
            <a:ext cx="423862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g3aa13868517_0_802"/>
          <p:cNvSpPr txBox="1"/>
          <p:nvPr/>
        </p:nvSpPr>
        <p:spPr>
          <a:xfrm>
            <a:off x="457200" y="4128100"/>
            <a:ext cx="41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rgbClr val="1FC2BA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https://developer.nvidia.com/blog/introduction-to-llm-agents/</a:t>
            </a:r>
            <a:endParaRPr b="0" i="0" sz="1300" u="none" cap="none" strike="noStrike">
              <a:solidFill>
                <a:srgbClr val="1FC2B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4" name="Google Shape;1184;g3aa13868517_0_8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5" name="Google Shape;1185;g3aa13868517_0_8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2349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6" name="Google Shape;1186;g3aa13868517_0_8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74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cat sitting at a desk with a looney tunes logo on the bottom (provided by Tenor)" id="1187" name="Google Shape;1187;g3aa13868517_0_819"/>
          <p:cNvPicPr preferRelativeResize="0"/>
          <p:nvPr/>
        </p:nvPicPr>
        <p:blipFill rotWithShape="1">
          <a:blip r:embed="rId6">
            <a:alphaModFix/>
          </a:blip>
          <a:srcRect b="8880" l="0" r="0" t="8873"/>
          <a:stretch/>
        </p:blipFill>
        <p:spPr>
          <a:xfrm>
            <a:off x="578644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8" name="Google Shape;1188;g3aa13868517_0_8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2368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is holding a wrench over his head (provided by Tenor)" id="1189" name="Google Shape;1189;g3aa13868517_0_819"/>
          <p:cNvPicPr preferRelativeResize="0"/>
          <p:nvPr/>
        </p:nvPicPr>
        <p:blipFill rotWithShape="1">
          <a:blip r:embed="rId8">
            <a:alphaModFix/>
          </a:blip>
          <a:srcRect b="19200" l="0" r="0" t="19199"/>
          <a:stretch/>
        </p:blipFill>
        <p:spPr>
          <a:xfrm>
            <a:off x="6246093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g3aa13868517_0_819"/>
          <p:cNvSpPr txBox="1"/>
          <p:nvPr/>
        </p:nvSpPr>
        <p:spPr>
          <a:xfrm>
            <a:off x="520659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3aa13868517_0_819"/>
          <p:cNvSpPr txBox="1"/>
          <p:nvPr/>
        </p:nvSpPr>
        <p:spPr>
          <a:xfrm>
            <a:off x="578644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Decomposing goals into sub-tasks (Chain of Thought).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g3aa13868517_0_819"/>
          <p:cNvSpPr txBox="1"/>
          <p:nvPr/>
        </p:nvSpPr>
        <p:spPr>
          <a:xfrm>
            <a:off x="3354384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g3aa13868517_0_819"/>
          <p:cNvSpPr txBox="1"/>
          <p:nvPr/>
        </p:nvSpPr>
        <p:spPr>
          <a:xfrm>
            <a:off x="3412368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Vector Databases allow long-term recall of past events.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g3aa13868517_0_819"/>
          <p:cNvSpPr txBox="1"/>
          <p:nvPr/>
        </p:nvSpPr>
        <p:spPr>
          <a:xfrm>
            <a:off x="6188108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g3aa13868517_0_819"/>
          <p:cNvSpPr txBox="1"/>
          <p:nvPr/>
        </p:nvSpPr>
        <p:spPr>
          <a:xfrm>
            <a:off x="6246093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APIs, Calculators, and Search Engines extend capability.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man in a leather jacket is looking up and saying `` big brain '' while standing in front of a building . (provided by Tenor)" id="1196" name="Google Shape;1196;g3aa13868517_0_819"/>
          <p:cNvPicPr preferRelativeResize="0"/>
          <p:nvPr/>
        </p:nvPicPr>
        <p:blipFill rotWithShape="1">
          <a:blip r:embed="rId9">
            <a:alphaModFix/>
          </a:blip>
          <a:srcRect b="19200" l="0" r="0" t="19199"/>
          <a:stretch/>
        </p:blipFill>
        <p:spPr>
          <a:xfrm>
            <a:off x="3412368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g3aa13868517_0_819"/>
          <p:cNvSpPr txBox="1"/>
          <p:nvPr/>
        </p:nvSpPr>
        <p:spPr>
          <a:xfrm>
            <a:off x="428625" y="428625"/>
            <a:ext cx="870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The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Three Pillars of Agency</a:t>
            </a:r>
            <a:endParaRPr b="1" i="0" sz="29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8" name="Google Shape;1198;g3aa13868517_0_819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3" name="Google Shape;1203;g3a70fd706a6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4" name="Google Shape;1204;g3a70fd706a6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2349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5" name="Google Shape;1205;g3a70fd706a6_0_1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74" y="1658800"/>
            <a:ext cx="2619412" cy="2638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6" name="Google Shape;1206;g3a70fd706a6_0_1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7" name="Google Shape;1207;g3a70fd706a6_0_1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2368" y="1808819"/>
            <a:ext cx="2319374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. Filled database icon for website design and mobile, app development. database icon from filled essential compilation collection isolated on black background. (provided by Getty Images)" id="1208" name="Google Shape;1208;g3a70fd706a6_0_198"/>
          <p:cNvPicPr preferRelativeResize="0"/>
          <p:nvPr/>
        </p:nvPicPr>
        <p:blipFill rotWithShape="1">
          <a:blip r:embed="rId8">
            <a:alphaModFix/>
          </a:blip>
          <a:srcRect b="19200" l="0" r="0" t="19199"/>
          <a:stretch/>
        </p:blipFill>
        <p:spPr>
          <a:xfrm>
            <a:off x="6246093" y="1808819"/>
            <a:ext cx="2319375" cy="14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g3a70fd706a6_0_198"/>
          <p:cNvSpPr txBox="1"/>
          <p:nvPr/>
        </p:nvSpPr>
        <p:spPr>
          <a:xfrm>
            <a:off x="520659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Web Browsing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g3a70fd706a6_0_198"/>
          <p:cNvSpPr txBox="1"/>
          <p:nvPr/>
        </p:nvSpPr>
        <p:spPr>
          <a:xfrm>
            <a:off x="578644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Accessing real-time information, news, and live data that is not in the training set.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3a70fd706a6_0_198"/>
          <p:cNvSpPr txBox="1"/>
          <p:nvPr/>
        </p:nvSpPr>
        <p:spPr>
          <a:xfrm>
            <a:off x="3354384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Code Execution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g3a70fd706a6_0_198"/>
          <p:cNvSpPr txBox="1"/>
          <p:nvPr/>
        </p:nvSpPr>
        <p:spPr>
          <a:xfrm>
            <a:off x="3412368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Writing and running Python scripts to perform complex math or data analysis.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g3a70fd706a6_0_198"/>
          <p:cNvSpPr txBox="1"/>
          <p:nvPr/>
        </p:nvSpPr>
        <p:spPr>
          <a:xfrm>
            <a:off x="6188108" y="3380444"/>
            <a:ext cx="24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External APIs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g3a70fd706a6_0_198"/>
          <p:cNvSpPr txBox="1"/>
          <p:nvPr/>
        </p:nvSpPr>
        <p:spPr>
          <a:xfrm>
            <a:off x="6246093" y="3667534"/>
            <a:ext cx="2319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Interacting with services like Slack, Jira, or SQL databases to perform actions.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owser icon. Filled browser icon for website design and mobile, app development. browser icon from filled contact and communication collection isolated on black background. (provided by Getty Images)" id="1215" name="Google Shape;1215;g3a70fd706a6_0_198"/>
          <p:cNvPicPr preferRelativeResize="0"/>
          <p:nvPr/>
        </p:nvPicPr>
        <p:blipFill rotWithShape="1">
          <a:blip r:embed="rId9">
            <a:alphaModFix/>
          </a:blip>
          <a:srcRect b="19200" l="0" r="0" t="19199"/>
          <a:stretch/>
        </p:blipFill>
        <p:spPr>
          <a:xfrm>
            <a:off x="578644" y="1808819"/>
            <a:ext cx="2319375" cy="1428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icon. Filled code icon for website design and mobile, app development. code icon from filled development collection isolated on black background. (provided by Getty Images)" id="1216" name="Google Shape;1216;g3a70fd706a6_0_198"/>
          <p:cNvPicPr preferRelativeResize="0"/>
          <p:nvPr/>
        </p:nvPicPr>
        <p:blipFill rotWithShape="1">
          <a:blip r:embed="rId10">
            <a:alphaModFix/>
          </a:blip>
          <a:srcRect b="19200" l="0" r="0" t="19199"/>
          <a:stretch/>
        </p:blipFill>
        <p:spPr>
          <a:xfrm>
            <a:off x="3412368" y="1808819"/>
            <a:ext cx="2319375" cy="14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g3a70fd706a6_0_198"/>
          <p:cNvSpPr txBox="1"/>
          <p:nvPr/>
        </p:nvSpPr>
        <p:spPr>
          <a:xfrm>
            <a:off x="412806" y="445375"/>
            <a:ext cx="8318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Extending Capabilities with Tools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g3a70fd706a6_0_198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3" name="Google Shape;1223;g3a70fd706a6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640941"/>
            <a:ext cx="3929063" cy="2674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4" name="Google Shape;1224;g3a70fd706a6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40941"/>
            <a:ext cx="3929063" cy="2674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g3a70fd706a6_0_106"/>
          <p:cNvSpPr txBox="1"/>
          <p:nvPr/>
        </p:nvSpPr>
        <p:spPr>
          <a:xfrm>
            <a:off x="721519" y="1933835"/>
            <a:ext cx="351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Short-Term (Context)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3a70fd706a6_0_106"/>
          <p:cNvSpPr txBox="1"/>
          <p:nvPr/>
        </p:nvSpPr>
        <p:spPr>
          <a:xfrm>
            <a:off x="721519" y="2296715"/>
            <a:ext cx="33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"RAM" of the Agent.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3a70fd706a6_0_106"/>
          <p:cNvSpPr txBox="1"/>
          <p:nvPr/>
        </p:nvSpPr>
        <p:spPr>
          <a:xfrm>
            <a:off x="721519" y="2668190"/>
            <a:ext cx="3343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limited by the model's context window (e.g., 128k tokens). It holds the immediate conversation history, the current prompt, and recent tool outputs.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3a70fd706a6_0_106"/>
          <p:cNvSpPr txBox="1"/>
          <p:nvPr/>
        </p:nvSpPr>
        <p:spPr>
          <a:xfrm>
            <a:off x="721519" y="3725465"/>
            <a:ext cx="33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Limitation: Cleared when the session ends.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3a70fd706a6_0_106"/>
          <p:cNvSpPr txBox="1"/>
          <p:nvPr/>
        </p:nvSpPr>
        <p:spPr>
          <a:xfrm>
            <a:off x="5079206" y="1933835"/>
            <a:ext cx="351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Long-Term (Vector Store)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g3a70fd706a6_0_106"/>
          <p:cNvSpPr txBox="1"/>
          <p:nvPr/>
        </p:nvSpPr>
        <p:spPr>
          <a:xfrm>
            <a:off x="5079206" y="2296715"/>
            <a:ext cx="33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"Hard Drive" of the Agent.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3a70fd706a6_0_106"/>
          <p:cNvSpPr txBox="1"/>
          <p:nvPr/>
        </p:nvSpPr>
        <p:spPr>
          <a:xfrm>
            <a:off x="5079206" y="2668190"/>
            <a:ext cx="3343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Uses Vector Databases (RAG) to store vast amounts of information. The agent retrieves only relevant "memories" based on semantic similarity to the current task.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3a70fd706a6_0_106"/>
          <p:cNvSpPr txBox="1"/>
          <p:nvPr/>
        </p:nvSpPr>
        <p:spPr>
          <a:xfrm>
            <a:off x="5079206" y="3725465"/>
            <a:ext cx="33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Benefit: Infinite persistence.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3a70fd706a6_0_106"/>
          <p:cNvSpPr txBox="1"/>
          <p:nvPr/>
        </p:nvSpPr>
        <p:spPr>
          <a:xfrm>
            <a:off x="431475" y="467575"/>
            <a:ext cx="828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Memory: Short vs. Long Term</a:t>
            </a:r>
            <a:endParaRPr b="1" i="0" sz="29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4" name="Google Shape;1234;g3a70fd706a6_0_106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a70fd706a6_0_296"/>
          <p:cNvSpPr txBox="1"/>
          <p:nvPr/>
        </p:nvSpPr>
        <p:spPr>
          <a:xfrm>
            <a:off x="428625" y="1147650"/>
            <a:ext cx="41256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Breaking Down Complexity</a:t>
            </a:r>
            <a:endParaRPr b="0" i="0" sz="1600" u="none" cap="none" strike="noStrike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Agents cannot solve complex tasks in one shot. They use planning techniques to improve reliability.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Chain of Thought:</a:t>
            </a:r>
            <a:r>
              <a:rPr b="0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Stepping through logic explicitly.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Tree of Thoughts: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Exploring multiple possibilities before committing.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Reflection:</a:t>
            </a:r>
            <a:r>
              <a:rPr b="0" i="0" lang="en" sz="14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Reviewing past actions to catch errors.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8BDF8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40" name="Google Shape;1240;g3a70fd706a6_0_296"/>
          <p:cNvSpPr txBox="1"/>
          <p:nvPr/>
        </p:nvSpPr>
        <p:spPr>
          <a:xfrm>
            <a:off x="412881" y="437000"/>
            <a:ext cx="8318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Planning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&amp; Reasoning</a:t>
            </a:r>
            <a:endParaRPr b="1" i="0" sz="2900" u="none" cap="none" strike="noStrike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1" name="Google Shape;1241;g3a70fd706a6_0_296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2" name="Google Shape;1242;g3a70fd706a6_0_296" title="plan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225" y="1875130"/>
            <a:ext cx="4469350" cy="249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7" name="Google Shape;1247;g3aa13868517_0_8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693069"/>
            <a:ext cx="2619412" cy="257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8" name="Google Shape;1248;g3aa13868517_0_8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2349" y="1693069"/>
            <a:ext cx="2619412" cy="257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9" name="Google Shape;1249;g3aa13868517_0_8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74" y="1693069"/>
            <a:ext cx="2619412" cy="25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g3aa13868517_0_870"/>
          <p:cNvSpPr txBox="1"/>
          <p:nvPr/>
        </p:nvSpPr>
        <p:spPr>
          <a:xfrm>
            <a:off x="1029436" y="2507456"/>
            <a:ext cx="141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Specialization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3aa13868517_0_870"/>
          <p:cNvSpPr txBox="1"/>
          <p:nvPr/>
        </p:nvSpPr>
        <p:spPr>
          <a:xfrm>
            <a:off x="650081" y="2984636"/>
            <a:ext cx="21765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one generalist, swarms of specialized agents (Coder, Designer, Writer) will collaborate.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g3aa13868517_0_870"/>
          <p:cNvSpPr txBox="1"/>
          <p:nvPr/>
        </p:nvSpPr>
        <p:spPr>
          <a:xfrm>
            <a:off x="3870662" y="2507456"/>
            <a:ext cx="14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Orchestration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g3aa13868517_0_870"/>
          <p:cNvSpPr txBox="1"/>
          <p:nvPr/>
        </p:nvSpPr>
        <p:spPr>
          <a:xfrm>
            <a:off x="3483806" y="2984636"/>
            <a:ext cx="21765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"Manager" agents will break down huge projects and assign tasks to "worker" agents.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3aa13868517_0_870"/>
          <p:cNvSpPr txBox="1"/>
          <p:nvPr/>
        </p:nvSpPr>
        <p:spPr>
          <a:xfrm>
            <a:off x="6884409" y="2507456"/>
            <a:ext cx="104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Autonomy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3aa13868517_0_870"/>
          <p:cNvSpPr txBox="1"/>
          <p:nvPr/>
        </p:nvSpPr>
        <p:spPr>
          <a:xfrm>
            <a:off x="6317530" y="2984636"/>
            <a:ext cx="21765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 will run continuously in the background, optimizing workflows without human input.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56" name="Google Shape;1256;g3aa13868517_0_8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3962" y="1950244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7" name="Google Shape;1257;g3aa13868517_0_8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9119" y="1950244"/>
            <a:ext cx="3857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8" name="Google Shape;1258;g3aa13868517_0_8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1412" y="195024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g3aa13868517_0_870"/>
          <p:cNvSpPr txBox="1"/>
          <p:nvPr/>
        </p:nvSpPr>
        <p:spPr>
          <a:xfrm>
            <a:off x="428625" y="428625"/>
            <a:ext cx="870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The</a:t>
            </a:r>
            <a:r>
              <a:rPr b="1" i="0" lang="en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" sz="2900" u="none" cap="none" strike="noStrike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Future: Multi-Agent Systems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g3aa13868517_0_870"/>
          <p:cNvSpPr/>
          <p:nvPr/>
        </p:nvSpPr>
        <p:spPr>
          <a:xfrm>
            <a:off x="428625" y="948668"/>
            <a:ext cx="82869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c33aedb228_0_30"/>
          <p:cNvSpPr txBox="1"/>
          <p:nvPr>
            <p:ph idx="1" type="body"/>
          </p:nvPr>
        </p:nvSpPr>
        <p:spPr>
          <a:xfrm>
            <a:off x="612625" y="2057200"/>
            <a:ext cx="78315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1"/>
                </a:solidFill>
              </a:rPr>
              <a:t>You’ve learned what agents can do.</a:t>
            </a:r>
            <a:endParaRPr sz="17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1"/>
                </a:solidFill>
              </a:rPr>
              <a:t>Now let’s learn </a:t>
            </a:r>
            <a:r>
              <a:rPr lang="en" sz="1700">
                <a:solidFill>
                  <a:schemeClr val="accent1"/>
                </a:solidFill>
              </a:rPr>
              <a:t>how to design</a:t>
            </a:r>
            <a:r>
              <a:rPr lang="en" sz="1700">
                <a:solidFill>
                  <a:schemeClr val="lt1"/>
                </a:solidFill>
              </a:rPr>
              <a:t> them for real-world applications.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266" name="Google Shape;1266;g3c33aedb228_0_3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bc1bc02762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Agentic design Pattern</a:t>
            </a:r>
            <a:endParaRPr b="1"/>
          </a:p>
        </p:txBody>
      </p:sp>
      <p:sp>
        <p:nvSpPr>
          <p:cNvPr id="1272" name="Google Shape;1272;g3bc1bc02762_0_61"/>
          <p:cNvSpPr txBox="1"/>
          <p:nvPr>
            <p:ph idx="1" type="body"/>
          </p:nvPr>
        </p:nvSpPr>
        <p:spPr>
          <a:xfrm>
            <a:off x="311700" y="1152475"/>
            <a:ext cx="814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Agentic Design Patterns are the </a:t>
            </a:r>
            <a:r>
              <a:rPr lang="en" sz="1300">
                <a:solidFill>
                  <a:schemeClr val="accent1"/>
                </a:solidFill>
              </a:rPr>
              <a:t>building blocks for LLM systems</a:t>
            </a:r>
            <a:r>
              <a:rPr lang="en" sz="1300">
                <a:solidFill>
                  <a:schemeClr val="lt1"/>
                </a:solidFill>
              </a:rPr>
              <a:t> that go beyond single prompt–response interactions.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They use composable structures to orchestrate reasoning, decisions, tools, and control flow.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By replacing hard-coded logic with system structure, these patterns enable reliable adaptation and scaling—from simple assistants to autonomous, goal-driven agents.</a:t>
            </a:r>
            <a:endParaRPr sz="1300"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273" name="Google Shape;1273;g3bc1bc02762_0_61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4" name="Google Shape;1274;g3bc1bc02762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475" y="2724150"/>
            <a:ext cx="6642974" cy="22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a70fd706a6_0_388"/>
          <p:cNvSpPr txBox="1"/>
          <p:nvPr>
            <p:ph type="title"/>
          </p:nvPr>
        </p:nvSpPr>
        <p:spPr>
          <a:xfrm>
            <a:off x="311700" y="1256575"/>
            <a:ext cx="8520600" cy="25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200"/>
              <a:t>Let’s build a </a:t>
            </a:r>
            <a:r>
              <a:rPr lang="en" sz="3200" u="sng">
                <a:solidFill>
                  <a:schemeClr val="hlink"/>
                </a:solidFill>
                <a:hlinkClick r:id="rId3"/>
              </a:rPr>
              <a:t>CRM Lead qualifier agent</a:t>
            </a:r>
            <a:endParaRPr sz="3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0" lang="en" sz="1700">
                <a:solidFill>
                  <a:schemeClr val="lt1"/>
                </a:solidFill>
              </a:rPr>
              <a:t>This </a:t>
            </a:r>
            <a:r>
              <a:rPr b="0" lang="en" sz="17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README</a:t>
            </a:r>
            <a:r>
              <a:rPr b="0" lang="en" sz="1700">
                <a:solidFill>
                  <a:schemeClr val="lt1"/>
                </a:solidFill>
              </a:rPr>
              <a:t> documents the complete agent design and routing logic for the CRM Lead Qualifier Agent</a:t>
            </a:r>
            <a:endParaRPr b="0" sz="17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2700"/>
          </a:p>
        </p:txBody>
      </p:sp>
      <p:sp>
        <p:nvSpPr>
          <p:cNvPr id="1280" name="Google Shape;1280;g3a70fd706a6_0_388"/>
          <p:cNvSpPr txBox="1"/>
          <p:nvPr>
            <p:ph idx="12" type="sldNum"/>
          </p:nvPr>
        </p:nvSpPr>
        <p:spPr>
          <a:xfrm>
            <a:off x="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1" name="Google Shape;1281;g3a70fd706a6_0_388"/>
          <p:cNvSpPr txBox="1"/>
          <p:nvPr/>
        </p:nvSpPr>
        <p:spPr>
          <a:xfrm>
            <a:off x="3010825" y="0"/>
            <a:ext cx="61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c83deaa63e_0_161"/>
          <p:cNvSpPr txBox="1"/>
          <p:nvPr>
            <p:ph type="title"/>
          </p:nvPr>
        </p:nvSpPr>
        <p:spPr>
          <a:xfrm>
            <a:off x="1627838" y="2404725"/>
            <a:ext cx="572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Feedback Poll for Instructor</a:t>
            </a:r>
            <a:endParaRPr b="1"/>
          </a:p>
        </p:txBody>
      </p:sp>
      <p:pic>
        <p:nvPicPr>
          <p:cNvPr id="1287" name="Google Shape;1287;g3c83deaa63e_0_161" title="Screenshot_2026-02-15_164521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625" y="405787"/>
            <a:ext cx="1691288" cy="169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aa13868517_0_888"/>
          <p:cNvSpPr txBox="1"/>
          <p:nvPr/>
        </p:nvSpPr>
        <p:spPr>
          <a:xfrm>
            <a:off x="2876788" y="1994557"/>
            <a:ext cx="339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3aa13868517_0_888"/>
          <p:cNvSpPr txBox="1"/>
          <p:nvPr/>
        </p:nvSpPr>
        <p:spPr>
          <a:xfrm>
            <a:off x="2957513" y="2703128"/>
            <a:ext cx="322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Exploring the frontier of autonomous AI.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bc1bc02762_0_25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9" name="Google Shape;1299;g3bc1bc02762_0_25"/>
          <p:cNvSpPr txBox="1"/>
          <p:nvPr>
            <p:ph type="title"/>
          </p:nvPr>
        </p:nvSpPr>
        <p:spPr>
          <a:xfrm>
            <a:off x="311700" y="1562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For Instructors - </a:t>
            </a:r>
            <a:r>
              <a:rPr lang="en">
                <a:solidFill>
                  <a:schemeClr val="accent4"/>
                </a:solidFill>
              </a:rPr>
              <a:t>Encourage Learner Interaction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00" name="Google Shape;1300;g3bc1bc02762_0_25"/>
          <p:cNvSpPr txBox="1"/>
          <p:nvPr>
            <p:ph idx="1" type="body"/>
          </p:nvPr>
        </p:nvSpPr>
        <p:spPr>
          <a:xfrm>
            <a:off x="311700" y="2270275"/>
            <a:ext cx="8140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Unmute learners and invite them to ask questions verbally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Promote open discussion instead of only chat-based Q&amp;A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Actively engage learners to maintain interactivity throughout the session</a:t>
            </a:r>
            <a:endParaRPr sz="1300"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e6839056ff_0_0"/>
          <p:cNvSpPr txBox="1"/>
          <p:nvPr>
            <p:ph idx="1" type="body"/>
          </p:nvPr>
        </p:nvSpPr>
        <p:spPr>
          <a:xfrm>
            <a:off x="311700" y="1704750"/>
            <a:ext cx="85206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300">
                <a:solidFill>
                  <a:srgbClr val="00B0F0"/>
                </a:solidFill>
              </a:rPr>
              <a:t>After building your agent, package the project with proper documentation (README) and publish it on GitHub to showcase it in your portfolio.</a:t>
            </a:r>
            <a:endParaRPr b="1" sz="2300">
              <a:solidFill>
                <a:srgbClr val="00B0F0"/>
              </a:solidFill>
            </a:endParaRPr>
          </a:p>
        </p:txBody>
      </p:sp>
      <p:sp>
        <p:nvSpPr>
          <p:cNvPr id="1306" name="Google Shape;1306;g3e6839056ff_0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7" name="Google Shape;1307;g3e6839056ff_0_0"/>
          <p:cNvSpPr txBox="1"/>
          <p:nvPr/>
        </p:nvSpPr>
        <p:spPr>
          <a:xfrm>
            <a:off x="2567875" y="3077850"/>
            <a:ext cx="38058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README Template for Agentic 2.0</a:t>
            </a:r>
            <a:endParaRPr b="0" i="0" sz="23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c33aedb228_0_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Build → Document → Publish (Every Agent)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</p:txBody>
      </p:sp>
      <p:sp>
        <p:nvSpPr>
          <p:cNvPr id="1313" name="Google Shape;1313;g3c33aedb228_0_100"/>
          <p:cNvSpPr txBox="1"/>
          <p:nvPr>
            <p:ph idx="1" type="body"/>
          </p:nvPr>
        </p:nvSpPr>
        <p:spPr>
          <a:xfrm>
            <a:off x="996875" y="1287225"/>
            <a:ext cx="6318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For every agent built in this course: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Package the project with a clear, structured README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Upload it to your GitHub portfolio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Treat each agent as a standalone, portfolio-ready artifact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1"/>
                </a:solidFill>
              </a:rPr>
              <a:t>This workflow will be applied consistently in every class as agents are built and published.</a:t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14" name="Google Shape;1314;g3c33aedb228_0_10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c33aedb228_0_123"/>
          <p:cNvSpPr txBox="1"/>
          <p:nvPr>
            <p:ph idx="1" type="body"/>
          </p:nvPr>
        </p:nvSpPr>
        <p:spPr>
          <a:xfrm>
            <a:off x="311700" y="1838800"/>
            <a:ext cx="85206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5100" u="sng">
                <a:solidFill>
                  <a:schemeClr val="hlink"/>
                </a:solidFill>
                <a:hlinkClick r:id="rId3"/>
              </a:rPr>
              <a:t>Week 0 - Mini Project</a:t>
            </a:r>
            <a:endParaRPr b="1" sz="5100">
              <a:solidFill>
                <a:srgbClr val="00B0F0"/>
              </a:solidFill>
            </a:endParaRPr>
          </a:p>
        </p:txBody>
      </p:sp>
      <p:sp>
        <p:nvSpPr>
          <p:cNvPr id="1320" name="Google Shape;1320;g3c33aedb228_0_123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bc1bc02762_0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Mini Project: Hello Agent – CSV FAQ Agent</a:t>
            </a:r>
            <a:endParaRPr b="1"/>
          </a:p>
        </p:txBody>
      </p:sp>
      <p:sp>
        <p:nvSpPr>
          <p:cNvPr id="1326" name="Google Shape;1326;g3bc1bc02762_0_31"/>
          <p:cNvSpPr txBox="1"/>
          <p:nvPr>
            <p:ph idx="1" type="body"/>
          </p:nvPr>
        </p:nvSpPr>
        <p:spPr>
          <a:xfrm>
            <a:off x="311700" y="1152475"/>
            <a:ext cx="489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1"/>
                </a:solidFill>
              </a:rPr>
              <a:t>The Challenge with Manual CSV Queries:</a:t>
            </a:r>
            <a:endParaRPr b="1" sz="15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●"/>
            </a:pPr>
            <a:r>
              <a:rPr lang="en" sz="1300">
                <a:solidFill>
                  <a:schemeClr val="lt1"/>
                </a:solidFill>
              </a:rPr>
              <a:t>Many organizations store key knowledge in CSV files (FAQs, policies, docs).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●"/>
            </a:pPr>
            <a:r>
              <a:rPr lang="en" sz="1300">
                <a:solidFill>
                  <a:schemeClr val="lt1"/>
                </a:solidFill>
              </a:rPr>
              <a:t>Teams manually search these files during live conversations.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Sans"/>
              <a:buChar char="●"/>
            </a:pPr>
            <a:r>
              <a:rPr b="1" lang="en" sz="1300">
                <a:solidFill>
                  <a:schemeClr val="lt1"/>
                </a:solidFill>
              </a:rPr>
              <a:t>This leads to:</a:t>
            </a:r>
            <a:endParaRPr b="1"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accent1"/>
                </a:solidFill>
              </a:rPr>
              <a:t>Slow responses </a:t>
            </a:r>
            <a:r>
              <a:rPr lang="en" sz="1300">
                <a:solidFill>
                  <a:schemeClr val="lt1"/>
                </a:solidFill>
              </a:rPr>
              <a:t>— information is hard to query quickly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accent1"/>
                </a:solidFill>
              </a:rPr>
              <a:t>Inconsistent answers </a:t>
            </a:r>
            <a:r>
              <a:rPr lang="en" sz="1300">
                <a:solidFill>
                  <a:schemeClr val="lt1"/>
                </a:solidFill>
              </a:rPr>
              <a:t>— different team members may interpret differently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accent1"/>
                </a:solidFill>
              </a:rPr>
              <a:t>Inefficient workflows</a:t>
            </a:r>
            <a:r>
              <a:rPr lang="en" sz="1300">
                <a:solidFill>
                  <a:schemeClr val="lt1"/>
                </a:solidFill>
              </a:rPr>
              <a:t> — time wasted on repetitive searches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327" name="Google Shape;1327;g3bc1bc02762_0_31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8" name="Google Shape;1328;g3bc1bc02762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2300" y="1505225"/>
            <a:ext cx="3752751" cy="292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bc1bc02762_0_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accent1"/>
                </a:solidFill>
              </a:rPr>
              <a:t>CSV FAQ Agent Requirements:</a:t>
            </a:r>
            <a:endParaRPr b="1"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1"/>
                </a:solidFill>
              </a:rPr>
              <a:t>CSV Upload:</a:t>
            </a:r>
            <a:r>
              <a:rPr lang="en" sz="1700">
                <a:solidFill>
                  <a:schemeClr val="lt1"/>
                </a:solidFill>
              </a:rPr>
              <a:t> Users can upload one or more CSV files.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1"/>
                </a:solidFill>
              </a:rPr>
              <a:t>Natural Language Queries:</a:t>
            </a:r>
            <a:r>
              <a:rPr lang="en" sz="1700">
                <a:solidFill>
                  <a:schemeClr val="lt1"/>
                </a:solidFill>
              </a:rPr>
              <a:t> Users can ask questions in plain English.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1"/>
                </a:solidFill>
              </a:rPr>
              <a:t>Data-Driven Answers:</a:t>
            </a:r>
            <a:r>
              <a:rPr lang="en" sz="1700">
                <a:solidFill>
                  <a:schemeClr val="lt1"/>
                </a:solidFill>
              </a:rPr>
              <a:t> Responses are strictly based on the uploaded CSV data.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1"/>
                </a:solidFill>
              </a:rPr>
              <a:t>Missing Data Handling:</a:t>
            </a:r>
            <a:r>
              <a:rPr lang="en" sz="1700">
                <a:solidFill>
                  <a:schemeClr val="lt1"/>
                </a:solidFill>
              </a:rPr>
              <a:t> Clearly indicate when an answer is not found in the data.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34" name="Google Shape;1334;g3bc1bc02762_0_39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5" name="Google Shape;1335;g3bc1bc02762_0_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Mini Project: Hello Agent – CSV FAQ Agent</a:t>
            </a:r>
            <a:endParaRPr b="1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c3eb8b9ece_0_21"/>
          <p:cNvSpPr txBox="1"/>
          <p:nvPr>
            <p:ph idx="1" type="body"/>
          </p:nvPr>
        </p:nvSpPr>
        <p:spPr>
          <a:xfrm>
            <a:off x="311700" y="1152475"/>
            <a:ext cx="55272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chemeClr val="lt1"/>
                </a:solidFill>
              </a:rPr>
              <a:t>To solve the problem efficiently and meet the requirements: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</a:rPr>
              <a:t>Load all CSV files</a:t>
            </a:r>
            <a:r>
              <a:rPr lang="en" sz="1300">
                <a:solidFill>
                  <a:schemeClr val="lt1"/>
                </a:solidFill>
              </a:rPr>
              <a:t> into memory for access.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</a:rPr>
              <a:t>Initialize an LLM agent</a:t>
            </a:r>
            <a:r>
              <a:rPr lang="en" sz="1300">
                <a:solidFill>
                  <a:schemeClr val="lt1"/>
                </a:solidFill>
              </a:rPr>
              <a:t> (ChatOpenAI, GPT-4o-mini) to reason over data.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</a:rPr>
              <a:t>Connect multiple CSVs</a:t>
            </a:r>
            <a:r>
              <a:rPr lang="en" sz="1300">
                <a:solidFill>
                  <a:schemeClr val="lt1"/>
                </a:solidFill>
              </a:rPr>
              <a:t> to the agent for multi-source decision making.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</a:rPr>
              <a:t>Design system prompts</a:t>
            </a:r>
            <a:r>
              <a:rPr lang="en" sz="1300">
                <a:solidFill>
                  <a:schemeClr val="lt1"/>
                </a:solidFill>
              </a:rPr>
              <a:t> to guide the agent: pick the correct CSV, answer only from data, return plain English responses.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</a:rPr>
              <a:t>Implement a chat loop:</a:t>
            </a:r>
            <a:r>
              <a:rPr lang="en" sz="1300">
                <a:solidFill>
                  <a:schemeClr val="lt1"/>
                </a:solidFill>
              </a:rPr>
              <a:t> user question → agent queries → returns answer or indicates missing data.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chemeClr val="accent1"/>
                </a:solidFill>
              </a:rPr>
              <a:t>Let’s now look at the </a:t>
            </a:r>
            <a:r>
              <a:rPr lang="en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Solution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1341" name="Google Shape;1341;g3c3eb8b9ece_0_21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2" name="Google Shape;1342;g3c3eb8b9ece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Hello Agent – CSV FAQ Agent: Solution</a:t>
            </a:r>
            <a:endParaRPr b="1"/>
          </a:p>
        </p:txBody>
      </p:sp>
      <p:pic>
        <p:nvPicPr>
          <p:cNvPr id="1343" name="Google Shape;1343;g3c3eb8b9ece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900" y="1017725"/>
            <a:ext cx="3152701" cy="344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8" name="Google Shape;1348;g3b061b7aba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025" y="242250"/>
            <a:ext cx="4838724" cy="4838724"/>
          </a:xfrm>
          <a:prstGeom prst="cloud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